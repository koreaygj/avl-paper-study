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9"/>
  </p:notesMasterIdLst>
  <p:sldIdLst>
    <p:sldId id="690" r:id="rId2"/>
    <p:sldId id="705" r:id="rId3"/>
    <p:sldId id="691" r:id="rId4"/>
    <p:sldId id="706" r:id="rId5"/>
    <p:sldId id="707" r:id="rId6"/>
    <p:sldId id="702" r:id="rId7"/>
    <p:sldId id="700" r:id="rId8"/>
  </p:sldIdLst>
  <p:sldSz cx="12192000" cy="6858000"/>
  <p:notesSz cx="10287000" cy="18288000"/>
  <p:embeddedFontLst>
    <p:embeddedFont>
      <p:font typeface="맑은 고딕" panose="020B0503020000020004" pitchFamily="34" charset="-127"/>
      <p:regular r:id="rId10"/>
      <p:bold r:id="rId11"/>
    </p:embeddedFont>
    <p:embeddedFont>
      <p:font typeface="RIDIBatang" panose="020B0600000101010101" pitchFamily="34" charset="-127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39" userDrawn="1">
          <p15:clr>
            <a:srgbClr val="A4A3A4"/>
          </p15:clr>
        </p15:guide>
        <p15:guide id="2" pos="19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FFB2"/>
    <a:srgbClr val="33CC33"/>
    <a:srgbClr val="008000"/>
    <a:srgbClr val="7F77DD"/>
    <a:srgbClr val="FBE3D6"/>
    <a:srgbClr val="E8E8E8"/>
    <a:srgbClr val="091C78"/>
    <a:srgbClr val="F8D1BD"/>
    <a:srgbClr val="F6C6AD"/>
    <a:srgbClr val="001C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68" autoAdjust="0"/>
    <p:restoredTop sz="95341" autoAdjust="0"/>
  </p:normalViewPr>
  <p:slideViewPr>
    <p:cSldViewPr snapToGrid="0">
      <p:cViewPr varScale="1">
        <p:scale>
          <a:sx n="140" d="100"/>
          <a:sy n="140" d="100"/>
        </p:scale>
        <p:origin x="240" y="392"/>
      </p:cViewPr>
      <p:guideLst>
        <p:guide orient="horz" pos="1439"/>
        <p:guide pos="19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D840F7F-AD5D-4FF6-A2C5-5738B3594BCB}" type="datetime1">
              <a:rPr lang="ko-KR" altLang="en-US"/>
              <a:pPr lvl="0">
                <a:defRPr/>
              </a:pPr>
              <a:t>2026. 10. 8.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7372012"/>
            <a:ext cx="4457700" cy="9159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827713" y="17372012"/>
            <a:ext cx="4457700" cy="9159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32A972C-8E35-4764-B51D-0708E80F29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64F10-35B0-CF33-97CC-588FBC1A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3741D0-2BBB-98E2-13AC-98589BB8D8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FB7F0-4EBB-2729-9688-0C7E210CB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81B66A-51B7-B292-975A-9691BABF2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32A972C-8E35-4764-B51D-0708E80F29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4612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113CA-E359-4DAE-C25A-C0A63A50C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B224C5-C429-22CB-B375-590290A3AC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493C90-4964-D51F-F796-1A6B6650B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AB3BC2-059F-538F-0120-A4F974898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32A972C-8E35-4764-B51D-0708E80F296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4845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64F10-35B0-CF33-97CC-588FBC1A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3741D0-2BBB-98E2-13AC-98589BB8D8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FB7F0-4EBB-2729-9688-0C7E210CB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81B66A-51B7-B292-975A-9691BABF2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32A972C-8E35-4764-B51D-0708E80F2967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4612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CE882-53B9-1C8A-1C55-6F81F2C9A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98B962-6054-586A-874C-0D48E12DBE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0F740C-D03D-7377-F54E-350D4EF57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D8396D-4A9A-2420-5CCF-50748F8D0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32A972C-8E35-4764-B51D-0708E80F2967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5244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08460-137E-BC2A-5DC3-357D77D56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0D847E-2737-1592-8ABB-CF49B883DA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09F071-FE2D-42AD-20E9-BEF6E647B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99262E-C3CF-BBF6-CBB5-E5D1BD9CB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32A972C-8E35-4764-B51D-0708E80F2967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4175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C730F-DA5F-7A01-84FD-9D69DDCA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F183C9-F7AB-79EE-F732-9A6E8B9B2C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010551-5765-22C4-4DB3-922DC2BF7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F69DF6-4C9C-4D6E-290B-C23186C7F7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32A972C-8E35-4764-B51D-0708E80F2967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8620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64F10-35B0-CF33-97CC-588FBC1A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3741D0-2BBB-98E2-13AC-98589BB8D8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FB7F0-4EBB-2729-9688-0C7E210CB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81B66A-51B7-B292-975A-9691BABF2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32A972C-8E35-4764-B51D-0708E80F2967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4612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3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06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09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12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161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193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22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257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1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889">
                <a:solidFill>
                  <a:schemeClr val="tx1">
                    <a:tint val="75000"/>
                  </a:schemeClr>
                </a:solidFill>
              </a:defRPr>
            </a:lvl1pPr>
            <a:lvl2pPr marL="20322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406440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3pPr>
            <a:lvl4pPr marL="609661" indent="0">
              <a:buNone/>
              <a:defRPr sz="622">
                <a:solidFill>
                  <a:schemeClr val="tx1">
                    <a:tint val="75000"/>
                  </a:schemeClr>
                </a:solidFill>
              </a:defRPr>
            </a:lvl4pPr>
            <a:lvl5pPr marL="812881" indent="0">
              <a:buNone/>
              <a:defRPr sz="622">
                <a:solidFill>
                  <a:schemeClr val="tx1">
                    <a:tint val="75000"/>
                  </a:schemeClr>
                </a:solidFill>
              </a:defRPr>
            </a:lvl5pPr>
            <a:lvl6pPr marL="1016101" indent="0">
              <a:buNone/>
              <a:defRPr sz="622">
                <a:solidFill>
                  <a:schemeClr val="tx1">
                    <a:tint val="75000"/>
                  </a:schemeClr>
                </a:solidFill>
              </a:defRPr>
            </a:lvl6pPr>
            <a:lvl7pPr marL="1219322" indent="0">
              <a:buNone/>
              <a:defRPr sz="622">
                <a:solidFill>
                  <a:schemeClr val="tx1">
                    <a:tint val="75000"/>
                  </a:schemeClr>
                </a:solidFill>
              </a:defRPr>
            </a:lvl7pPr>
            <a:lvl8pPr marL="1422542" indent="0">
              <a:buNone/>
              <a:defRPr sz="622">
                <a:solidFill>
                  <a:schemeClr val="tx1">
                    <a:tint val="75000"/>
                  </a:schemeClr>
                </a:solidFill>
              </a:defRPr>
            </a:lvl8pPr>
            <a:lvl9pPr marL="1625763" indent="0">
              <a:buNone/>
              <a:defRPr sz="6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245"/>
            </a:lvl1pPr>
            <a:lvl2pPr>
              <a:defRPr sz="1067"/>
            </a:lvl2pPr>
            <a:lvl3pPr>
              <a:defRPr sz="889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245"/>
            </a:lvl1pPr>
            <a:lvl2pPr>
              <a:defRPr sz="1067"/>
            </a:lvl2pPr>
            <a:lvl3pPr>
              <a:defRPr sz="889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1" y="1023409"/>
            <a:ext cx="2693459" cy="426508"/>
          </a:xfrm>
        </p:spPr>
        <p:txBody>
          <a:bodyPr anchor="b"/>
          <a:lstStyle>
            <a:lvl1pPr marL="0" indent="0">
              <a:buNone/>
              <a:defRPr sz="1067" b="1"/>
            </a:lvl1pPr>
            <a:lvl2pPr marL="203220" indent="0">
              <a:buNone/>
              <a:defRPr sz="889" b="1"/>
            </a:lvl2pPr>
            <a:lvl3pPr marL="406440" indent="0">
              <a:buNone/>
              <a:defRPr sz="800" b="1"/>
            </a:lvl3pPr>
            <a:lvl4pPr marL="609661" indent="0">
              <a:buNone/>
              <a:defRPr sz="711" b="1"/>
            </a:lvl4pPr>
            <a:lvl5pPr marL="812881" indent="0">
              <a:buNone/>
              <a:defRPr sz="711" b="1"/>
            </a:lvl5pPr>
            <a:lvl6pPr marL="1016101" indent="0">
              <a:buNone/>
              <a:defRPr sz="711" b="1"/>
            </a:lvl6pPr>
            <a:lvl7pPr marL="1219322" indent="0">
              <a:buNone/>
              <a:defRPr sz="711" b="1"/>
            </a:lvl7pPr>
            <a:lvl8pPr marL="1422542" indent="0">
              <a:buNone/>
              <a:defRPr sz="711" b="1"/>
            </a:lvl8pPr>
            <a:lvl9pPr marL="1625763" indent="0">
              <a:buNone/>
              <a:defRPr sz="7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1" y="1449917"/>
            <a:ext cx="2693459" cy="2634192"/>
          </a:xfrm>
        </p:spPr>
        <p:txBody>
          <a:bodyPr/>
          <a:lstStyle>
            <a:lvl1pPr>
              <a:defRPr sz="1067"/>
            </a:lvl1pPr>
            <a:lvl2pPr>
              <a:defRPr sz="889"/>
            </a:lvl2pPr>
            <a:lvl3pPr>
              <a:defRPr sz="800"/>
            </a:lvl3pPr>
            <a:lvl4pPr>
              <a:defRPr sz="711"/>
            </a:lvl4pPr>
            <a:lvl5pPr>
              <a:defRPr sz="711"/>
            </a:lvl5pPr>
            <a:lvl6pPr>
              <a:defRPr sz="711"/>
            </a:lvl6pPr>
            <a:lvl7pPr>
              <a:defRPr sz="711"/>
            </a:lvl7pPr>
            <a:lvl8pPr>
              <a:defRPr sz="711"/>
            </a:lvl8pPr>
            <a:lvl9pPr>
              <a:defRPr sz="7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5" y="1023409"/>
            <a:ext cx="2694517" cy="426508"/>
          </a:xfrm>
        </p:spPr>
        <p:txBody>
          <a:bodyPr anchor="b"/>
          <a:lstStyle>
            <a:lvl1pPr marL="0" indent="0">
              <a:buNone/>
              <a:defRPr sz="1067" b="1"/>
            </a:lvl1pPr>
            <a:lvl2pPr marL="203220" indent="0">
              <a:buNone/>
              <a:defRPr sz="889" b="1"/>
            </a:lvl2pPr>
            <a:lvl3pPr marL="406440" indent="0">
              <a:buNone/>
              <a:defRPr sz="800" b="1"/>
            </a:lvl3pPr>
            <a:lvl4pPr marL="609661" indent="0">
              <a:buNone/>
              <a:defRPr sz="711" b="1"/>
            </a:lvl4pPr>
            <a:lvl5pPr marL="812881" indent="0">
              <a:buNone/>
              <a:defRPr sz="711" b="1"/>
            </a:lvl5pPr>
            <a:lvl6pPr marL="1016101" indent="0">
              <a:buNone/>
              <a:defRPr sz="711" b="1"/>
            </a:lvl6pPr>
            <a:lvl7pPr marL="1219322" indent="0">
              <a:buNone/>
              <a:defRPr sz="711" b="1"/>
            </a:lvl7pPr>
            <a:lvl8pPr marL="1422542" indent="0">
              <a:buNone/>
              <a:defRPr sz="711" b="1"/>
            </a:lvl8pPr>
            <a:lvl9pPr marL="1625763" indent="0">
              <a:buNone/>
              <a:defRPr sz="7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5" y="1449917"/>
            <a:ext cx="2694517" cy="2634192"/>
          </a:xfrm>
        </p:spPr>
        <p:txBody>
          <a:bodyPr/>
          <a:lstStyle>
            <a:lvl1pPr>
              <a:defRPr sz="1067"/>
            </a:lvl1pPr>
            <a:lvl2pPr>
              <a:defRPr sz="889"/>
            </a:lvl2pPr>
            <a:lvl3pPr>
              <a:defRPr sz="800"/>
            </a:lvl3pPr>
            <a:lvl4pPr>
              <a:defRPr sz="711"/>
            </a:lvl4pPr>
            <a:lvl5pPr>
              <a:defRPr sz="711"/>
            </a:lvl5pPr>
            <a:lvl6pPr>
              <a:defRPr sz="711"/>
            </a:lvl6pPr>
            <a:lvl7pPr>
              <a:defRPr sz="711"/>
            </a:lvl7pPr>
            <a:lvl8pPr>
              <a:defRPr sz="711"/>
            </a:lvl8pPr>
            <a:lvl9pPr>
              <a:defRPr sz="7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8" y="182034"/>
            <a:ext cx="3407833" cy="3902075"/>
          </a:xfrm>
        </p:spPr>
        <p:txBody>
          <a:bodyPr/>
          <a:lstStyle>
            <a:lvl1pPr>
              <a:defRPr sz="1422"/>
            </a:lvl1pPr>
            <a:lvl2pPr>
              <a:defRPr sz="1245"/>
            </a:lvl2pPr>
            <a:lvl3pPr>
              <a:defRPr sz="1067"/>
            </a:lvl3pPr>
            <a:lvl4pPr>
              <a:defRPr sz="889"/>
            </a:lvl4pPr>
            <a:lvl5pPr>
              <a:defRPr sz="889"/>
            </a:lvl5pPr>
            <a:lvl6pPr>
              <a:defRPr sz="889"/>
            </a:lvl6pPr>
            <a:lvl7pPr>
              <a:defRPr sz="889"/>
            </a:lvl7pPr>
            <a:lvl8pPr>
              <a:defRPr sz="889"/>
            </a:lvl8pPr>
            <a:lvl9pPr>
              <a:defRPr sz="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622"/>
            </a:lvl1pPr>
            <a:lvl2pPr marL="203220" indent="0">
              <a:buNone/>
              <a:defRPr sz="533"/>
            </a:lvl2pPr>
            <a:lvl3pPr marL="406440" indent="0">
              <a:buNone/>
              <a:defRPr sz="445"/>
            </a:lvl3pPr>
            <a:lvl4pPr marL="609661" indent="0">
              <a:buNone/>
              <a:defRPr sz="400"/>
            </a:lvl4pPr>
            <a:lvl5pPr marL="812881" indent="0">
              <a:buNone/>
              <a:defRPr sz="400"/>
            </a:lvl5pPr>
            <a:lvl6pPr marL="1016101" indent="0">
              <a:buNone/>
              <a:defRPr sz="400"/>
            </a:lvl6pPr>
            <a:lvl7pPr marL="1219322" indent="0">
              <a:buNone/>
              <a:defRPr sz="400"/>
            </a:lvl7pPr>
            <a:lvl8pPr marL="1422542" indent="0">
              <a:buNone/>
              <a:defRPr sz="400"/>
            </a:lvl8pPr>
            <a:lvl9pPr marL="1625763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1422"/>
            </a:lvl1pPr>
            <a:lvl2pPr marL="203220" indent="0">
              <a:buNone/>
              <a:defRPr sz="1245"/>
            </a:lvl2pPr>
            <a:lvl3pPr marL="406440" indent="0">
              <a:buNone/>
              <a:defRPr sz="1067"/>
            </a:lvl3pPr>
            <a:lvl4pPr marL="609661" indent="0">
              <a:buNone/>
              <a:defRPr sz="889"/>
            </a:lvl4pPr>
            <a:lvl5pPr marL="812881" indent="0">
              <a:buNone/>
              <a:defRPr sz="889"/>
            </a:lvl5pPr>
            <a:lvl6pPr marL="1016101" indent="0">
              <a:buNone/>
              <a:defRPr sz="889"/>
            </a:lvl6pPr>
            <a:lvl7pPr marL="1219322" indent="0">
              <a:buNone/>
              <a:defRPr sz="889"/>
            </a:lvl7pPr>
            <a:lvl8pPr marL="1422542" indent="0">
              <a:buNone/>
              <a:defRPr sz="889"/>
            </a:lvl8pPr>
            <a:lvl9pPr marL="1625763" indent="0">
              <a:buNone/>
              <a:defRPr sz="88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622"/>
            </a:lvl1pPr>
            <a:lvl2pPr marL="203220" indent="0">
              <a:buNone/>
              <a:defRPr sz="533"/>
            </a:lvl2pPr>
            <a:lvl3pPr marL="406440" indent="0">
              <a:buNone/>
              <a:defRPr sz="445"/>
            </a:lvl3pPr>
            <a:lvl4pPr marL="609661" indent="0">
              <a:buNone/>
              <a:defRPr sz="400"/>
            </a:lvl4pPr>
            <a:lvl5pPr marL="812881" indent="0">
              <a:buNone/>
              <a:defRPr sz="400"/>
            </a:lvl5pPr>
            <a:lvl6pPr marL="1016101" indent="0">
              <a:buNone/>
              <a:defRPr sz="400"/>
            </a:lvl6pPr>
            <a:lvl7pPr marL="1219322" indent="0">
              <a:buNone/>
              <a:defRPr sz="400"/>
            </a:lvl7pPr>
            <a:lvl8pPr marL="1422542" indent="0">
              <a:buNone/>
              <a:defRPr sz="400"/>
            </a:lvl8pPr>
            <a:lvl9pPr marL="1625763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8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8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8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8F0DE-9209-DB26-4524-CD58D5CFB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 Band"/>
          <p:cNvSpPr/>
          <p:nvPr/>
        </p:nvSpPr>
        <p:spPr>
          <a:xfrm>
            <a:off x="0" y="0"/>
            <a:ext cx="12192000" cy="3979334"/>
          </a:xfrm>
          <a:prstGeom prst="rect">
            <a:avLst/>
          </a:prstGeom>
          <a:gradFill>
            <a:gsLst>
              <a:gs pos="0">
                <a:srgbClr val="0C5A73"/>
              </a:gs>
              <a:gs pos="60000">
                <a:srgbClr val="0F6E8C"/>
              </a:gs>
              <a:gs pos="100000">
                <a:srgbClr val="18A0C4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0BE6CA6-715B-7B0A-4D6E-43A0ECDE2748}"/>
              </a:ext>
            </a:extLst>
          </p:cNvPr>
          <p:cNvSpPr txBox="1"/>
          <p:nvPr/>
        </p:nvSpPr>
        <p:spPr>
          <a:xfrm>
            <a:off x="762000" y="2070614"/>
            <a:ext cx="10668000" cy="769441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algn="l"/>
            <a:r>
              <a:rPr lang="en-US" altLang="ko-KR" sz="4400" b="1" dirty="0" err="1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xPU</a:t>
            </a:r>
            <a:r>
              <a:rPr lang="en-US" altLang="ko-KR" sz="44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Computer Architecture</a:t>
            </a:r>
            <a:endParaRPr lang="ko-KR" altLang="en-US" sz="4400" b="1" dirty="0">
              <a:solidFill>
                <a:schemeClr val="bg1"/>
              </a:solidFill>
              <a:latin typeface="RIDIBatang"/>
              <a:ea typeface="RIDIBatang"/>
              <a:cs typeface="RIDIBatang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CB0010-FA70-83EE-06B1-C6D6E1AF7549}"/>
              </a:ext>
            </a:extLst>
          </p:cNvPr>
          <p:cNvSpPr/>
          <p:nvPr/>
        </p:nvSpPr>
        <p:spPr>
          <a:xfrm flipH="1">
            <a:off x="0" y="6173166"/>
            <a:ext cx="12190476" cy="54015"/>
          </a:xfrm>
          <a:prstGeom prst="rect">
            <a:avLst/>
          </a:prstGeom>
          <a:gradFill>
            <a:gsLst>
              <a:gs pos="0">
                <a:srgbClr val="9AD7E6"/>
              </a:gs>
              <a:gs pos="50000">
                <a:srgbClr val="18A0C4"/>
              </a:gs>
              <a:gs pos="100000">
                <a:srgbClr val="0F6E8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387AC9-9974-D7F8-373E-27085D37D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861" y="6297348"/>
            <a:ext cx="753533" cy="4318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88C51C-D933-217C-6267-123A453C0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1125" y="6293171"/>
            <a:ext cx="408128" cy="4897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937912-E546-D56C-1C49-197447EDE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70" y="6333942"/>
            <a:ext cx="1309607" cy="408209"/>
          </a:xfrm>
          <a:prstGeom prst="rect">
            <a:avLst/>
          </a:prstGeom>
        </p:spPr>
      </p:pic>
      <p:sp>
        <p:nvSpPr>
          <p:cNvPr id="102" name="Meta"/>
          <p:cNvSpPr txBox="1"/>
          <p:nvPr/>
        </p:nvSpPr>
        <p:spPr>
          <a:xfrm>
            <a:off x="762000" y="4572000"/>
            <a:ext cx="10160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lang="en-US" altLang="ko-KR" sz="1334" b="1" dirty="0">
                <a:solidFill>
                  <a:srgbClr val="0F6E8C"/>
                </a:solidFill>
                <a:latin typeface="RIDIBatang"/>
                <a:ea typeface="RIDIBatang"/>
                <a:cs typeface="RIDIBatang"/>
              </a:rPr>
              <a:t>AVLAB (Autonomous Vehicle Lab)</a:t>
            </a:r>
          </a:p>
          <a:p>
            <a:pPr algn="l">
              <a:lnSpc>
                <a:spcPct val="150000"/>
              </a:lnSpc>
            </a:pPr>
            <a:r>
              <a:rPr lang="ko-KR" altLang="en-US" sz="1334" dirty="0">
                <a:solidFill>
                  <a:srgbClr val="5A6A70"/>
                </a:solidFill>
                <a:latin typeface="RIDIBatang"/>
                <a:ea typeface="RIDIBatang"/>
                <a:cs typeface="RIDIBatang"/>
              </a:rPr>
              <a:t>양경진 </a:t>
            </a:r>
            <a:r>
              <a:rPr lang="en-US" altLang="ko-KR" sz="1334" dirty="0">
                <a:solidFill>
                  <a:srgbClr val="5A6A70"/>
                </a:solidFill>
                <a:latin typeface="RIDIBatang"/>
                <a:ea typeface="RIDIBatang"/>
                <a:cs typeface="RIDIBatang"/>
              </a:rPr>
              <a:t>|</a:t>
            </a:r>
            <a:r>
              <a:rPr lang="ko-KR" altLang="en-US" sz="1334" dirty="0">
                <a:solidFill>
                  <a:srgbClr val="5A6A70"/>
                </a:solidFill>
                <a:latin typeface="RIDIBatang"/>
                <a:ea typeface="RIDIBatang"/>
                <a:cs typeface="RIDIBatang"/>
              </a:rPr>
              <a:t> 2026. </a:t>
            </a:r>
            <a:r>
              <a:rPr lang="en-US" altLang="ko-KR" sz="1334" dirty="0">
                <a:solidFill>
                  <a:srgbClr val="5A6A70"/>
                </a:solidFill>
                <a:latin typeface="RIDIBatang"/>
                <a:ea typeface="RIDIBatang"/>
                <a:cs typeface="RIDIBatang"/>
              </a:rPr>
              <a:t>10.07</a:t>
            </a:r>
            <a:endParaRPr lang="ko-KR" altLang="en-US" sz="1334" dirty="0">
              <a:solidFill>
                <a:srgbClr val="5A6A70"/>
              </a:solidFill>
              <a:latin typeface="RIDIBatang"/>
              <a:ea typeface="RIDIBatang"/>
              <a:cs typeface="RIDIBatang"/>
            </a:endParaRPr>
          </a:p>
        </p:txBody>
      </p:sp>
    </p:spTree>
    <p:extLst>
      <p:ext uri="{BB962C8B-B14F-4D97-AF65-F5344CB8AC3E}">
        <p14:creationId xmlns:p14="http://schemas.microsoft.com/office/powerpoint/2010/main" val="4215814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DF8DA-F22F-E414-66DF-E6187BE49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 Band">
            <a:extLst>
              <a:ext uri="{FF2B5EF4-FFF2-40B4-BE49-F238E27FC236}">
                <a16:creationId xmlns:a16="http://schemas.microsoft.com/office/drawing/2014/main" id="{605FFED1-B2B7-C681-827C-1928F805FB94}"/>
              </a:ext>
            </a:extLst>
          </p:cNvPr>
          <p:cNvSpPr/>
          <p:nvPr/>
        </p:nvSpPr>
        <p:spPr>
          <a:xfrm>
            <a:off x="0" y="0"/>
            <a:ext cx="12192000" cy="846668"/>
          </a:xfrm>
          <a:prstGeom prst="rect">
            <a:avLst/>
          </a:prstGeom>
          <a:gradFill>
            <a:gsLst>
              <a:gs pos="0">
                <a:srgbClr val="0C5A73"/>
              </a:gs>
              <a:gs pos="60000">
                <a:srgbClr val="0F6E8C"/>
              </a:gs>
              <a:gs pos="100000">
                <a:srgbClr val="18A0C4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74BEDAF-9A05-EBF7-12B5-35E81E6BEE29}"/>
              </a:ext>
            </a:extLst>
          </p:cNvPr>
          <p:cNvSpPr txBox="1"/>
          <p:nvPr/>
        </p:nvSpPr>
        <p:spPr>
          <a:xfrm>
            <a:off x="406400" y="124778"/>
            <a:ext cx="10668000" cy="6308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GPU</a:t>
            </a:r>
            <a:endParaRPr lang="ko-KR" altLang="en-US" sz="3200" b="1" dirty="0">
              <a:solidFill>
                <a:schemeClr val="bg1"/>
              </a:solidFill>
              <a:latin typeface="RIDIBatang"/>
              <a:ea typeface="RIDIBatang"/>
              <a:cs typeface="RIDIBatang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B48533-C1E5-51C0-0148-BA9053572B99}"/>
              </a:ext>
            </a:extLst>
          </p:cNvPr>
          <p:cNvSpPr/>
          <p:nvPr/>
        </p:nvSpPr>
        <p:spPr>
          <a:xfrm flipH="1">
            <a:off x="0" y="6173166"/>
            <a:ext cx="12190476" cy="54015"/>
          </a:xfrm>
          <a:prstGeom prst="rect">
            <a:avLst/>
          </a:prstGeom>
          <a:gradFill>
            <a:gsLst>
              <a:gs pos="0">
                <a:srgbClr val="9AD7E6"/>
              </a:gs>
              <a:gs pos="50000">
                <a:srgbClr val="18A0C4"/>
              </a:gs>
              <a:gs pos="100000">
                <a:srgbClr val="0F6E8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111531-9D11-7618-00E1-7EB3F8216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861" y="6297348"/>
            <a:ext cx="753533" cy="4318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04B52F-DE7B-A462-7EB7-A476342E10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1125" y="6293171"/>
            <a:ext cx="408128" cy="4897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B9B6B7-D182-DDE8-DD7B-F9FC8D299B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70" y="6333942"/>
            <a:ext cx="1309607" cy="408209"/>
          </a:xfrm>
          <a:prstGeom prst="rect">
            <a:avLst/>
          </a:prstGeom>
        </p:spPr>
      </p:pic>
      <p:sp>
        <p:nvSpPr>
          <p:cNvPr id="900" name="PageNum">
            <a:extLst>
              <a:ext uri="{FF2B5EF4-FFF2-40B4-BE49-F238E27FC236}">
                <a16:creationId xmlns:a16="http://schemas.microsoft.com/office/drawing/2014/main" id="{ACC42F0A-574B-78CF-6BAB-1F24A0888365}"/>
              </a:ext>
            </a:extLst>
          </p:cNvPr>
          <p:cNvSpPr txBox="1"/>
          <p:nvPr/>
        </p:nvSpPr>
        <p:spPr>
          <a:xfrm>
            <a:off x="10414001" y="237068"/>
            <a:ext cx="1354667" cy="372533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en-US" sz="1601" dirty="0">
                <a:solidFill>
                  <a:srgbClr val="D6EEF5"/>
                </a:solidFill>
                <a:latin typeface="RIDIBatang"/>
                <a:ea typeface="RIDIBatang"/>
                <a:cs typeface="RIDIBatang"/>
              </a:rPr>
              <a:t>03.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1EE746A-5354-F271-805C-4A1B0CCAD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03" y="1903479"/>
            <a:ext cx="6041639" cy="3234557"/>
          </a:xfrm>
          <a:prstGeom prst="rect">
            <a:avLst/>
          </a:prstGeom>
        </p:spPr>
      </p:pic>
      <p:sp>
        <p:nvSpPr>
          <p:cNvPr id="901" name="Keywords"/>
          <p:cNvSpPr txBox="1"/>
          <p:nvPr/>
        </p:nvSpPr>
        <p:spPr>
          <a:xfrm>
            <a:off x="7112000" y="1905000"/>
            <a:ext cx="4673600" cy="3238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ko-KR" sz="1800" b="1" dirty="0">
                <a:solidFill>
                  <a:schemeClr val="tx2"/>
                </a:solidFill>
              </a:rPr>
              <a:t>Massively Parallel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수천 개 스레드를 동시에 실행</a:t>
            </a:r>
          </a:p>
          <a:p>
            <a:pPr marL="0" indent="0">
              <a:spcBef>
                <a:spcPts val="2800"/>
              </a:spcBef>
              <a:buNone/>
            </a:pPr>
            <a:r>
              <a:rPr lang="en-US" altLang="ko-KR" sz="1800" b="1" dirty="0">
                <a:solidFill>
                  <a:schemeClr val="tx2"/>
                </a:solidFill>
              </a:rPr>
              <a:t>Streaming Multiprocessor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SP 묶음 + L1 메모리 공유</a:t>
            </a:r>
          </a:p>
          <a:p>
            <a:pPr marL="0" indent="0">
              <a:spcBef>
                <a:spcPts val="2800"/>
              </a:spcBef>
              <a:buNone/>
            </a:pPr>
            <a:r>
              <a:rPr lang="en-US" altLang="ko-KR" sz="1800" b="1" dirty="0">
                <a:solidFill>
                  <a:schemeClr val="tx2"/>
                </a:solidFill>
              </a:rPr>
              <a:t>Thread Scheduler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Vertex · Geometry · Pixel 작업 발급</a:t>
            </a:r>
          </a:p>
          <a:p>
            <a:pPr marL="0" indent="0">
              <a:spcBef>
                <a:spcPts val="2800"/>
              </a:spcBef>
              <a:buNone/>
            </a:pPr>
            <a:r>
              <a:rPr lang="en-US" altLang="ko-KR" sz="1800" b="1" dirty="0">
                <a:solidFill>
                  <a:schemeClr val="tx2"/>
                </a:solidFill>
              </a:rPr>
              <a:t>Memory Hierarchy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L1 → L2 → Frame Buffer</a:t>
            </a:r>
          </a:p>
        </p:txBody>
      </p:sp>
    </p:spTree>
    <p:extLst>
      <p:ext uri="{BB962C8B-B14F-4D97-AF65-F5344CB8AC3E}">
        <p14:creationId xmlns:p14="http://schemas.microsoft.com/office/powerpoint/2010/main" val="69518884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8F0DE-9209-DB26-4524-CD58D5CFB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 Band"/>
          <p:cNvSpPr/>
          <p:nvPr/>
        </p:nvSpPr>
        <p:spPr>
          <a:xfrm>
            <a:off x="0" y="0"/>
            <a:ext cx="12192000" cy="846668"/>
          </a:xfrm>
          <a:prstGeom prst="rect">
            <a:avLst/>
          </a:prstGeom>
          <a:gradFill>
            <a:gsLst>
              <a:gs pos="0">
                <a:srgbClr val="0C5A73"/>
              </a:gs>
              <a:gs pos="60000">
                <a:srgbClr val="0F6E8C"/>
              </a:gs>
              <a:gs pos="100000">
                <a:srgbClr val="18A0C4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0BE6CA6-715B-7B0A-4D6E-43A0ECDE2748}"/>
              </a:ext>
            </a:extLst>
          </p:cNvPr>
          <p:cNvSpPr txBox="1"/>
          <p:nvPr/>
        </p:nvSpPr>
        <p:spPr>
          <a:xfrm>
            <a:off x="406400" y="124778"/>
            <a:ext cx="10668000" cy="6308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GPU</a:t>
            </a:r>
            <a:endParaRPr lang="ko-KR" altLang="en-US" sz="3200" b="1" dirty="0">
              <a:solidFill>
                <a:schemeClr val="bg1"/>
              </a:solidFill>
              <a:latin typeface="RIDIBatang"/>
              <a:ea typeface="RIDIBatang"/>
              <a:cs typeface="RIDIBatang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CB0010-FA70-83EE-06B1-C6D6E1AF7549}"/>
              </a:ext>
            </a:extLst>
          </p:cNvPr>
          <p:cNvSpPr/>
          <p:nvPr/>
        </p:nvSpPr>
        <p:spPr>
          <a:xfrm flipH="1">
            <a:off x="0" y="6173166"/>
            <a:ext cx="12190476" cy="54015"/>
          </a:xfrm>
          <a:prstGeom prst="rect">
            <a:avLst/>
          </a:prstGeom>
          <a:gradFill>
            <a:gsLst>
              <a:gs pos="0">
                <a:srgbClr val="9AD7E6"/>
              </a:gs>
              <a:gs pos="50000">
                <a:srgbClr val="18A0C4"/>
              </a:gs>
              <a:gs pos="100000">
                <a:srgbClr val="0F6E8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387AC9-9974-D7F8-373E-27085D37D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861" y="6297348"/>
            <a:ext cx="753533" cy="4318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88C51C-D933-217C-6267-123A453C0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1125" y="6293171"/>
            <a:ext cx="408128" cy="4897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937912-E546-D56C-1C49-197447EDE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70" y="6333942"/>
            <a:ext cx="1309607" cy="408209"/>
          </a:xfrm>
          <a:prstGeom prst="rect">
            <a:avLst/>
          </a:prstGeom>
        </p:spPr>
      </p:pic>
      <p:sp>
        <p:nvSpPr>
          <p:cNvPr id="900" name="PageNum"/>
          <p:cNvSpPr txBox="1"/>
          <p:nvPr/>
        </p:nvSpPr>
        <p:spPr>
          <a:xfrm>
            <a:off x="10414001" y="237068"/>
            <a:ext cx="1354667" cy="372533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en-US" sz="1601" dirty="0">
                <a:solidFill>
                  <a:srgbClr val="D6EEF5"/>
                </a:solidFill>
                <a:latin typeface="RIDIBatang"/>
                <a:ea typeface="RIDIBatang"/>
                <a:cs typeface="RIDIBatang"/>
              </a:rPr>
              <a:t>03.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CBD01AD-C6AF-3699-5528-02A92026B9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03" y="1903479"/>
            <a:ext cx="6041639" cy="323455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0535912-D6EA-3034-16B6-5B9BDF1A07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1871" y="916836"/>
            <a:ext cx="3932531" cy="5207846"/>
          </a:xfrm>
          <a:prstGeom prst="rect">
            <a:avLst/>
          </a:prstGeom>
        </p:spPr>
      </p:pic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2E279D64-7AF0-DAA5-82BE-19D27AAA7CC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188631" y="1085085"/>
            <a:ext cx="2028458" cy="1878023"/>
          </a:xfrm>
          <a:prstGeom prst="bentConnector3">
            <a:avLst>
              <a:gd name="adj1" fmla="val 99372"/>
            </a:avLst>
          </a:prstGeom>
          <a:ln w="1143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86790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721D2-8EBB-D2EF-6D3B-ABF992526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 Band">
            <a:extLst>
              <a:ext uri="{FF2B5EF4-FFF2-40B4-BE49-F238E27FC236}">
                <a16:creationId xmlns:a16="http://schemas.microsoft.com/office/drawing/2014/main" id="{30E57762-1A42-9AFF-8467-F73E8430A711}"/>
              </a:ext>
            </a:extLst>
          </p:cNvPr>
          <p:cNvSpPr/>
          <p:nvPr/>
        </p:nvSpPr>
        <p:spPr>
          <a:xfrm>
            <a:off x="0" y="0"/>
            <a:ext cx="12192000" cy="846668"/>
          </a:xfrm>
          <a:prstGeom prst="rect">
            <a:avLst/>
          </a:prstGeom>
          <a:gradFill>
            <a:gsLst>
              <a:gs pos="0">
                <a:srgbClr val="0C5A73"/>
              </a:gs>
              <a:gs pos="60000">
                <a:srgbClr val="0F6E8C"/>
              </a:gs>
              <a:gs pos="100000">
                <a:srgbClr val="18A0C4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3F9EFFA-2B25-4754-8494-2FF49DE8E034}"/>
              </a:ext>
            </a:extLst>
          </p:cNvPr>
          <p:cNvSpPr txBox="1"/>
          <p:nvPr/>
        </p:nvSpPr>
        <p:spPr>
          <a:xfrm>
            <a:off x="406400" y="147813"/>
            <a:ext cx="10668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TPU</a:t>
            </a:r>
            <a:endParaRPr lang="ko-KR" altLang="en-US" sz="3200" b="1" dirty="0">
              <a:solidFill>
                <a:schemeClr val="bg1"/>
              </a:solidFill>
              <a:latin typeface="RIDIBatang"/>
              <a:ea typeface="RIDIBatang"/>
              <a:cs typeface="RIDIBatang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47AF55C-85B4-8B6B-D161-906A932E0F1F}"/>
              </a:ext>
            </a:extLst>
          </p:cNvPr>
          <p:cNvSpPr/>
          <p:nvPr/>
        </p:nvSpPr>
        <p:spPr>
          <a:xfrm flipH="1">
            <a:off x="0" y="6173166"/>
            <a:ext cx="12190476" cy="54015"/>
          </a:xfrm>
          <a:prstGeom prst="rect">
            <a:avLst/>
          </a:prstGeom>
          <a:gradFill>
            <a:gsLst>
              <a:gs pos="0">
                <a:srgbClr val="9AD7E6"/>
              </a:gs>
              <a:gs pos="50000">
                <a:srgbClr val="18A0C4"/>
              </a:gs>
              <a:gs pos="100000">
                <a:srgbClr val="0F6E8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E638D9-68B2-2BFB-3A72-40A1B8125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861" y="6297348"/>
            <a:ext cx="753533" cy="4318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77D59B-1ED4-B94B-00D7-9E265F94E1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1125" y="6293171"/>
            <a:ext cx="408128" cy="4897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1A485B-112E-C521-0104-5E1DFBEC2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70" y="6333942"/>
            <a:ext cx="1309607" cy="408209"/>
          </a:xfrm>
          <a:prstGeom prst="rect">
            <a:avLst/>
          </a:prstGeom>
        </p:spPr>
      </p:pic>
      <p:sp>
        <p:nvSpPr>
          <p:cNvPr id="900" name="PageNum">
            <a:extLst>
              <a:ext uri="{FF2B5EF4-FFF2-40B4-BE49-F238E27FC236}">
                <a16:creationId xmlns:a16="http://schemas.microsoft.com/office/drawing/2014/main" id="{750BEA24-0C04-36CD-512B-FFC663743184}"/>
              </a:ext>
            </a:extLst>
          </p:cNvPr>
          <p:cNvSpPr txBox="1"/>
          <p:nvPr/>
        </p:nvSpPr>
        <p:spPr>
          <a:xfrm>
            <a:off x="10414001" y="237068"/>
            <a:ext cx="1354667" cy="372533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en-US" sz="1601" dirty="0">
                <a:solidFill>
                  <a:srgbClr val="D6EEF5"/>
                </a:solidFill>
                <a:latin typeface="RIDIBatang"/>
                <a:ea typeface="RIDIBatang"/>
                <a:cs typeface="RIDIBatang"/>
              </a:rPr>
              <a:t>03.</a:t>
            </a:r>
          </a:p>
        </p:txBody>
      </p:sp>
      <p:pic>
        <p:nvPicPr>
          <p:cNvPr id="3" name="Picture 2" descr="TPU data movement visualized">
            <a:extLst>
              <a:ext uri="{FF2B5EF4-FFF2-40B4-BE49-F238E27FC236}">
                <a16:creationId xmlns:a16="http://schemas.microsoft.com/office/drawing/2014/main" id="{12EC4DBC-1E35-08BA-44EF-50AAB85F98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6177" y="1088905"/>
            <a:ext cx="4323326" cy="4680190"/>
          </a:xfrm>
          <a:prstGeom prst="rect">
            <a:avLst/>
          </a:prstGeom>
        </p:spPr>
      </p:pic>
      <p:sp>
        <p:nvSpPr>
          <p:cNvPr id="901" name="Keywords"/>
          <p:cNvSpPr txBox="1"/>
          <p:nvPr/>
        </p:nvSpPr>
        <p:spPr>
          <a:xfrm>
            <a:off x="6350000" y="1092200"/>
            <a:ext cx="5435600" cy="4686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ko-KR" sz="1800" b="1" dirty="0">
                <a:solidFill>
                  <a:schemeClr val="tx2"/>
                </a:solidFill>
              </a:rPr>
              <a:t>Systolic Array (MXU)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행렬 곱셈 전용 연산 유닛</a:t>
            </a:r>
          </a:p>
          <a:p>
            <a:pPr marL="0" indent="0">
              <a:spcBef>
                <a:spcPts val="2800"/>
              </a:spcBef>
              <a:buNone/>
            </a:pPr>
            <a:r>
              <a:rPr lang="en-US" altLang="ko-KR" sz="1800" b="1" dirty="0">
                <a:solidFill>
                  <a:schemeClr val="tx2"/>
                </a:solidFill>
              </a:rPr>
              <a:t>Vector · Scalar Unit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요소별 연산과 제어 흐름 처리</a:t>
            </a:r>
          </a:p>
          <a:p>
            <a:pPr marL="0" indent="0">
              <a:spcBef>
                <a:spcPts val="2800"/>
              </a:spcBef>
              <a:buNone/>
            </a:pPr>
            <a:r>
              <a:rPr lang="en-US" altLang="ko-KR" sz="1800" b="1" dirty="0">
                <a:solidFill>
                  <a:schemeClr val="tx2"/>
                </a:solidFill>
              </a:rPr>
              <a:t>On-chip Memory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VMEM · SMEM과 VREGs · SREGs</a:t>
            </a:r>
          </a:p>
          <a:p>
            <a:pPr marL="0" indent="0">
              <a:spcBef>
                <a:spcPts val="2800"/>
              </a:spcBef>
              <a:buNone/>
            </a:pPr>
            <a:r>
              <a:rPr lang="en-US" altLang="ko-KR" sz="1800" b="1" dirty="0">
                <a:solidFill>
                  <a:schemeClr val="tx2"/>
                </a:solidFill>
              </a:rPr>
              <a:t>HBM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고대역폭 외부 메모리</a:t>
            </a:r>
          </a:p>
        </p:txBody>
      </p:sp>
    </p:spTree>
    <p:extLst>
      <p:ext uri="{BB962C8B-B14F-4D97-AF65-F5344CB8AC3E}">
        <p14:creationId xmlns:p14="http://schemas.microsoft.com/office/powerpoint/2010/main" val="9093099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6B1F5-7A41-B88D-568A-68CF602C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 Band">
            <a:extLst>
              <a:ext uri="{FF2B5EF4-FFF2-40B4-BE49-F238E27FC236}">
                <a16:creationId xmlns:a16="http://schemas.microsoft.com/office/drawing/2014/main" id="{6B857E07-7518-1336-BF23-C2317E44E494}"/>
              </a:ext>
            </a:extLst>
          </p:cNvPr>
          <p:cNvSpPr/>
          <p:nvPr/>
        </p:nvSpPr>
        <p:spPr>
          <a:xfrm>
            <a:off x="0" y="0"/>
            <a:ext cx="12192000" cy="846668"/>
          </a:xfrm>
          <a:prstGeom prst="rect">
            <a:avLst/>
          </a:prstGeom>
          <a:gradFill>
            <a:gsLst>
              <a:gs pos="0">
                <a:srgbClr val="0C5A73"/>
              </a:gs>
              <a:gs pos="60000">
                <a:srgbClr val="0F6E8C"/>
              </a:gs>
              <a:gs pos="100000">
                <a:srgbClr val="18A0C4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4E4A3F1-9470-0338-2A5A-7C2D52C2F9F1}"/>
              </a:ext>
            </a:extLst>
          </p:cNvPr>
          <p:cNvSpPr txBox="1"/>
          <p:nvPr/>
        </p:nvSpPr>
        <p:spPr>
          <a:xfrm>
            <a:off x="406400" y="147813"/>
            <a:ext cx="10668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3200" b="1" dirty="0" err="1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Tenstorrent</a:t>
            </a:r>
            <a:endParaRPr lang="ko-KR" altLang="en-US" sz="3200" b="1" dirty="0">
              <a:solidFill>
                <a:schemeClr val="bg1"/>
              </a:solidFill>
              <a:latin typeface="RIDIBatang"/>
              <a:ea typeface="RIDIBatang"/>
              <a:cs typeface="RIDIBatang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CEF4FB1-285D-DF82-CC4F-4F5ED6117A76}"/>
              </a:ext>
            </a:extLst>
          </p:cNvPr>
          <p:cNvSpPr/>
          <p:nvPr/>
        </p:nvSpPr>
        <p:spPr>
          <a:xfrm flipH="1">
            <a:off x="0" y="6173166"/>
            <a:ext cx="12190476" cy="54015"/>
          </a:xfrm>
          <a:prstGeom prst="rect">
            <a:avLst/>
          </a:prstGeom>
          <a:gradFill>
            <a:gsLst>
              <a:gs pos="0">
                <a:srgbClr val="9AD7E6"/>
              </a:gs>
              <a:gs pos="50000">
                <a:srgbClr val="18A0C4"/>
              </a:gs>
              <a:gs pos="100000">
                <a:srgbClr val="0F6E8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77A06B-7318-F1FF-7D3C-B4F912189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861" y="6297348"/>
            <a:ext cx="753533" cy="4318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72A51C-101D-0831-FDC0-2963E27AF5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1125" y="6293171"/>
            <a:ext cx="408128" cy="4897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A2722D-BA0A-C481-DB95-6555ACF47E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70" y="6333942"/>
            <a:ext cx="1309607" cy="408209"/>
          </a:xfrm>
          <a:prstGeom prst="rect">
            <a:avLst/>
          </a:prstGeom>
        </p:spPr>
      </p:pic>
      <p:sp>
        <p:nvSpPr>
          <p:cNvPr id="900" name="PageNum">
            <a:extLst>
              <a:ext uri="{FF2B5EF4-FFF2-40B4-BE49-F238E27FC236}">
                <a16:creationId xmlns:a16="http://schemas.microsoft.com/office/drawing/2014/main" id="{7A6FE075-5A27-67F2-0A54-56E9A4858D50}"/>
              </a:ext>
            </a:extLst>
          </p:cNvPr>
          <p:cNvSpPr txBox="1"/>
          <p:nvPr/>
        </p:nvSpPr>
        <p:spPr>
          <a:xfrm>
            <a:off x="10414001" y="237068"/>
            <a:ext cx="1354667" cy="372533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en-US" sz="1601" dirty="0">
                <a:solidFill>
                  <a:srgbClr val="D6EEF5"/>
                </a:solidFill>
                <a:latin typeface="RIDIBatang"/>
                <a:ea typeface="RIDIBatang"/>
                <a:cs typeface="RIDIBatang"/>
              </a:rPr>
              <a:t>03.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099F0F7-B0AE-5D49-ACF3-98F3D49231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97051" y="1222513"/>
            <a:ext cx="2206387" cy="48264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378831-66E1-3ED8-464E-99321B15AF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1876" y="1178599"/>
            <a:ext cx="2189616" cy="4826472"/>
          </a:xfrm>
          <a:prstGeom prst="rect">
            <a:avLst/>
          </a:prstGeom>
        </p:spPr>
      </p:pic>
      <p:sp>
        <p:nvSpPr>
          <p:cNvPr id="901" name="Keywords"/>
          <p:cNvSpPr txBox="1"/>
          <p:nvPr/>
        </p:nvSpPr>
        <p:spPr>
          <a:xfrm>
            <a:off x="6858000" y="1181100"/>
            <a:ext cx="4927600" cy="4864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ko-KR" sz="1800" b="1" dirty="0">
                <a:solidFill>
                  <a:schemeClr val="tx2"/>
                </a:solidFill>
              </a:rPr>
              <a:t>Wormhole · 칩 2개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한 카드에 Wormhole 칩 2개 탑재</a:t>
            </a:r>
          </a:p>
          <a:p>
            <a:pPr marL="0" indent="0">
              <a:spcBef>
                <a:spcPts val="2800"/>
              </a:spcBef>
              <a:buNone/>
            </a:pPr>
            <a:r>
              <a:rPr lang="en-US" altLang="ko-KR" sz="1800" b="1" dirty="0">
                <a:solidFill>
                  <a:schemeClr val="tx2"/>
                </a:solidFill>
              </a:rPr>
              <a:t>Tensix Core Grid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코어마다 연산 유닛 + 로컬 SRAM</a:t>
            </a:r>
          </a:p>
          <a:p>
            <a:pPr marL="0" indent="0">
              <a:spcBef>
                <a:spcPts val="2800"/>
              </a:spcBef>
              <a:buNone/>
            </a:pPr>
            <a:r>
              <a:rPr lang="en-US" altLang="ko-KR" sz="1800" b="1" dirty="0">
                <a:solidFill>
                  <a:schemeClr val="tx2"/>
                </a:solidFill>
              </a:rPr>
              <a:t>NoC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코어 간 데이터를 2D 메시로 전달</a:t>
            </a:r>
          </a:p>
          <a:p>
            <a:pPr marL="0" indent="0">
              <a:spcBef>
                <a:spcPts val="2800"/>
              </a:spcBef>
              <a:buNone/>
            </a:pPr>
            <a:r>
              <a:rPr lang="en-US" altLang="ko-KR" sz="1800" b="1" dirty="0">
                <a:solidFill>
                  <a:schemeClr val="tx2"/>
                </a:solidFill>
              </a:rPr>
              <a:t>Ethernet · GDDR6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칩 간 확장과 외부 메모리</a:t>
            </a:r>
          </a:p>
        </p:txBody>
      </p:sp>
    </p:spTree>
    <p:extLst>
      <p:ext uri="{BB962C8B-B14F-4D97-AF65-F5344CB8AC3E}">
        <p14:creationId xmlns:p14="http://schemas.microsoft.com/office/powerpoint/2010/main" val="76438266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0F21F-725E-1EFA-8989-CF1D6D7ED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 Band">
            <a:extLst>
              <a:ext uri="{FF2B5EF4-FFF2-40B4-BE49-F238E27FC236}">
                <a16:creationId xmlns:a16="http://schemas.microsoft.com/office/drawing/2014/main" id="{A7C85027-0947-31A7-54AA-FA3BD0EAD7A2}"/>
              </a:ext>
            </a:extLst>
          </p:cNvPr>
          <p:cNvSpPr/>
          <p:nvPr/>
        </p:nvSpPr>
        <p:spPr>
          <a:xfrm>
            <a:off x="0" y="0"/>
            <a:ext cx="12192000" cy="846668"/>
          </a:xfrm>
          <a:prstGeom prst="rect">
            <a:avLst/>
          </a:prstGeom>
          <a:gradFill>
            <a:gsLst>
              <a:gs pos="0">
                <a:srgbClr val="0C5A73"/>
              </a:gs>
              <a:gs pos="60000">
                <a:srgbClr val="0F6E8C"/>
              </a:gs>
              <a:gs pos="100000">
                <a:srgbClr val="18A0C4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AE4D819-8EAB-BB8D-31C7-16E5E6F06A93}"/>
              </a:ext>
            </a:extLst>
          </p:cNvPr>
          <p:cNvSpPr txBox="1"/>
          <p:nvPr/>
        </p:nvSpPr>
        <p:spPr>
          <a:xfrm>
            <a:off x="406400" y="147813"/>
            <a:ext cx="10668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3200" b="1" dirty="0" err="1">
                <a:solidFill>
                  <a:schemeClr val="bg1"/>
                </a:solidFill>
                <a:latin typeface="RIDIBatang"/>
                <a:ea typeface="RIDIBatang"/>
                <a:cs typeface="RIDIBatang"/>
              </a:rPr>
              <a:t>Tenstorrent</a:t>
            </a:r>
            <a:endParaRPr lang="ko-KR" altLang="en-US" sz="3200" b="1" dirty="0">
              <a:solidFill>
                <a:schemeClr val="bg1"/>
              </a:solidFill>
              <a:latin typeface="RIDIBatang"/>
              <a:ea typeface="RIDIBatang"/>
              <a:cs typeface="RIDIBatang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0609152-3BC3-B98D-5A86-B42626C692E0}"/>
              </a:ext>
            </a:extLst>
          </p:cNvPr>
          <p:cNvSpPr/>
          <p:nvPr/>
        </p:nvSpPr>
        <p:spPr>
          <a:xfrm flipH="1">
            <a:off x="0" y="6173166"/>
            <a:ext cx="12190476" cy="54015"/>
          </a:xfrm>
          <a:prstGeom prst="rect">
            <a:avLst/>
          </a:prstGeom>
          <a:gradFill>
            <a:gsLst>
              <a:gs pos="0">
                <a:srgbClr val="9AD7E6"/>
              </a:gs>
              <a:gs pos="50000">
                <a:srgbClr val="18A0C4"/>
              </a:gs>
              <a:gs pos="100000">
                <a:srgbClr val="0F6E8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823DF8-FD69-2840-002A-32D5399333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861" y="6297348"/>
            <a:ext cx="753533" cy="4318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69C71D-B032-8DE8-7F40-A5C17495B3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1125" y="6293171"/>
            <a:ext cx="408128" cy="4897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2FDF58-A6F6-80EB-F4CA-E13843568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70" y="6333942"/>
            <a:ext cx="1309607" cy="408209"/>
          </a:xfrm>
          <a:prstGeom prst="rect">
            <a:avLst/>
          </a:prstGeom>
        </p:spPr>
      </p:pic>
      <p:sp>
        <p:nvSpPr>
          <p:cNvPr id="900" name="PageNum">
            <a:extLst>
              <a:ext uri="{FF2B5EF4-FFF2-40B4-BE49-F238E27FC236}">
                <a16:creationId xmlns:a16="http://schemas.microsoft.com/office/drawing/2014/main" id="{F56CB144-3CF5-9D99-BD89-8D1A5395505B}"/>
              </a:ext>
            </a:extLst>
          </p:cNvPr>
          <p:cNvSpPr txBox="1"/>
          <p:nvPr/>
        </p:nvSpPr>
        <p:spPr>
          <a:xfrm>
            <a:off x="10414001" y="237068"/>
            <a:ext cx="1354667" cy="372533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en-US" sz="1601" dirty="0">
                <a:solidFill>
                  <a:srgbClr val="D6EEF5"/>
                </a:solidFill>
                <a:latin typeface="RIDIBatang"/>
                <a:ea typeface="RIDIBatang"/>
                <a:cs typeface="RIDIBatang"/>
              </a:rPr>
              <a:t>03.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6F01D0-AD64-8D11-3A4B-6E1650E18B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116" y="1596423"/>
            <a:ext cx="4604765" cy="36651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CB0E99-380D-BFD4-8B60-473FB05B1B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869" y="1677340"/>
            <a:ext cx="4457620" cy="366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25807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8F0DE-9209-DB26-4524-CD58D5CFB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CB0010-FA70-83EE-06B1-C6D6E1AF7549}"/>
              </a:ext>
            </a:extLst>
          </p:cNvPr>
          <p:cNvSpPr/>
          <p:nvPr/>
        </p:nvSpPr>
        <p:spPr>
          <a:xfrm flipH="1">
            <a:off x="0" y="6173166"/>
            <a:ext cx="12190476" cy="54015"/>
          </a:xfrm>
          <a:prstGeom prst="rect">
            <a:avLst/>
          </a:prstGeom>
          <a:gradFill>
            <a:gsLst>
              <a:gs pos="0">
                <a:srgbClr val="9AD7E6"/>
              </a:gs>
              <a:gs pos="50000">
                <a:srgbClr val="18A0C4"/>
              </a:gs>
              <a:gs pos="100000">
                <a:srgbClr val="0F6E8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387AC9-9974-D7F8-373E-27085D37D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861" y="6297348"/>
            <a:ext cx="753533" cy="4318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88C51C-D933-217C-6267-123A453C0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1125" y="6293171"/>
            <a:ext cx="408128" cy="4897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937912-E546-D56C-1C49-197447EDE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70" y="6333942"/>
            <a:ext cx="1309607" cy="408209"/>
          </a:xfrm>
          <a:prstGeom prst="rect">
            <a:avLst/>
          </a:prstGeom>
        </p:spPr>
      </p:pic>
      <p:sp>
        <p:nvSpPr>
          <p:cNvPr id="900" name="PageNum"/>
          <p:cNvSpPr txBox="1"/>
          <p:nvPr/>
        </p:nvSpPr>
        <p:spPr>
          <a:xfrm>
            <a:off x="10430934" y="812801"/>
            <a:ext cx="1354667" cy="372533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en-US" sz="1601" dirty="0">
                <a:solidFill>
                  <a:srgbClr val="0F6E8C"/>
                </a:solidFill>
                <a:latin typeface="RIDIBatang"/>
                <a:ea typeface="RIDIBatang"/>
                <a:cs typeface="RIDIBatang"/>
              </a:rPr>
              <a:t>12.</a:t>
            </a:r>
          </a:p>
        </p:txBody>
      </p:sp>
      <p:sp>
        <p:nvSpPr>
          <p:cNvPr id="500" name="TopRule"/>
          <p:cNvSpPr/>
          <p:nvPr/>
        </p:nvSpPr>
        <p:spPr>
          <a:xfrm>
            <a:off x="406401" y="541868"/>
            <a:ext cx="11379200" cy="21167"/>
          </a:xfrm>
          <a:prstGeom prst="rect">
            <a:avLst/>
          </a:prstGeom>
          <a:solidFill>
            <a:srgbClr val="0F6E8C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501" name="ThanksText"/>
          <p:cNvSpPr txBox="1"/>
          <p:nvPr/>
        </p:nvSpPr>
        <p:spPr>
          <a:xfrm>
            <a:off x="762002" y="2116668"/>
            <a:ext cx="10583333" cy="186266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98000"/>
              </a:lnSpc>
            </a:pPr>
            <a:r>
              <a:rPr lang="en-US" sz="4800" b="1" dirty="0">
                <a:solidFill>
                  <a:srgbClr val="0F6E8C"/>
                </a:solidFill>
                <a:latin typeface="RIDIBatang"/>
                <a:ea typeface="RIDIBatang"/>
                <a:cs typeface="RIDIBatang"/>
              </a:rPr>
              <a:t>THANK YOU</a:t>
            </a:r>
          </a:p>
          <a:p>
            <a:pPr>
              <a:lnSpc>
                <a:spcPct val="98000"/>
              </a:lnSpc>
            </a:pPr>
            <a:r>
              <a:rPr lang="en-US" sz="4800" b="1" dirty="0">
                <a:gradFill>
                  <a:gsLst>
                    <a:gs pos="0">
                      <a:srgbClr val="0F6E8C"/>
                    </a:gs>
                    <a:gs pos="100000">
                      <a:srgbClr val="74BACD"/>
                    </a:gs>
                  </a:gsLst>
                  <a:lin ang="0" scaled="0"/>
                </a:gradFill>
                <a:latin typeface="RIDIBatang"/>
                <a:ea typeface="RIDIBatang"/>
                <a:cs typeface="RIDIBatang"/>
              </a:rPr>
              <a:t>FOR YOUR ATTENTION</a:t>
            </a:r>
          </a:p>
        </p:txBody>
      </p:sp>
      <p:sp>
        <p:nvSpPr>
          <p:cNvPr id="502" name="ContactRule"/>
          <p:cNvSpPr/>
          <p:nvPr/>
        </p:nvSpPr>
        <p:spPr>
          <a:xfrm>
            <a:off x="762000" y="4741334"/>
            <a:ext cx="10668000" cy="8468"/>
          </a:xfrm>
          <a:prstGeom prst="rect">
            <a:avLst/>
          </a:prstGeom>
          <a:solidFill>
            <a:srgbClr val="9AD7E6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503" name="CLab0"/>
          <p:cNvSpPr txBox="1"/>
          <p:nvPr/>
        </p:nvSpPr>
        <p:spPr>
          <a:xfrm>
            <a:off x="762000" y="5012268"/>
            <a:ext cx="3386667" cy="18626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067" b="1" spc="133" dirty="0">
                <a:solidFill>
                  <a:srgbClr val="0F6E8C"/>
                </a:solidFill>
                <a:latin typeface="RIDIBatang"/>
                <a:ea typeface="RIDIBatang"/>
                <a:cs typeface="RIDIBatang"/>
              </a:rPr>
              <a:t>EMAIL</a:t>
            </a:r>
          </a:p>
        </p:txBody>
      </p:sp>
      <p:sp>
        <p:nvSpPr>
          <p:cNvPr id="504" name="CVal0"/>
          <p:cNvSpPr txBox="1"/>
          <p:nvPr/>
        </p:nvSpPr>
        <p:spPr>
          <a:xfrm>
            <a:off x="762000" y="5266268"/>
            <a:ext cx="3386667" cy="28786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467" dirty="0" err="1">
                <a:solidFill>
                  <a:srgbClr val="1C2B31"/>
                </a:solidFill>
                <a:latin typeface="RIDIBatang"/>
                <a:ea typeface="RIDIBatang"/>
                <a:cs typeface="RIDIBatang"/>
              </a:rPr>
              <a:t>koreaygj@chungbuk.ac.kr</a:t>
            </a:r>
            <a:endParaRPr lang="en-US" sz="1467" dirty="0">
              <a:solidFill>
                <a:srgbClr val="1C2B31"/>
              </a:solidFill>
            </a:endParaRPr>
          </a:p>
        </p:txBody>
      </p:sp>
      <p:sp>
        <p:nvSpPr>
          <p:cNvPr id="505" name="CLab1"/>
          <p:cNvSpPr txBox="1"/>
          <p:nvPr/>
        </p:nvSpPr>
        <p:spPr>
          <a:xfrm>
            <a:off x="4402668" y="5012268"/>
            <a:ext cx="3386667" cy="18626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067" b="1" spc="133" dirty="0">
                <a:solidFill>
                  <a:srgbClr val="0F6E8C"/>
                </a:solidFill>
                <a:latin typeface="RIDIBatang"/>
                <a:ea typeface="RIDIBatang"/>
                <a:cs typeface="RIDIBatang"/>
              </a:rPr>
              <a:t>PHONE</a:t>
            </a:r>
          </a:p>
        </p:txBody>
      </p:sp>
      <p:sp>
        <p:nvSpPr>
          <p:cNvPr id="506" name="CVal1"/>
          <p:cNvSpPr txBox="1"/>
          <p:nvPr/>
        </p:nvSpPr>
        <p:spPr>
          <a:xfrm>
            <a:off x="4412499" y="5266268"/>
            <a:ext cx="3386667" cy="28786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467" dirty="0">
                <a:solidFill>
                  <a:srgbClr val="1C2B31"/>
                </a:solidFill>
                <a:latin typeface="RIDIBatang"/>
                <a:ea typeface="RIDIBatang"/>
                <a:cs typeface="RIDIBatang"/>
              </a:rPr>
              <a:t>010-6705-1828</a:t>
            </a:r>
          </a:p>
        </p:txBody>
      </p:sp>
      <p:sp>
        <p:nvSpPr>
          <p:cNvPr id="507" name="CLab2"/>
          <p:cNvSpPr txBox="1"/>
          <p:nvPr/>
        </p:nvSpPr>
        <p:spPr>
          <a:xfrm>
            <a:off x="8043333" y="5012268"/>
            <a:ext cx="3386667" cy="18626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067" b="1" spc="133" dirty="0">
                <a:solidFill>
                  <a:srgbClr val="0F6E8C"/>
                </a:solidFill>
                <a:latin typeface="RIDIBatang"/>
                <a:ea typeface="RIDIBatang"/>
                <a:cs typeface="RIDIBatang"/>
              </a:rPr>
              <a:t>WEBSITE</a:t>
            </a:r>
          </a:p>
        </p:txBody>
      </p:sp>
      <p:sp>
        <p:nvSpPr>
          <p:cNvPr id="508" name="CVal2"/>
          <p:cNvSpPr txBox="1"/>
          <p:nvPr/>
        </p:nvSpPr>
        <p:spPr>
          <a:xfrm>
            <a:off x="8043333" y="5266268"/>
            <a:ext cx="3386667" cy="28786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467" dirty="0">
                <a:solidFill>
                  <a:srgbClr val="1C2B31"/>
                </a:solidFill>
                <a:latin typeface="RIDIBatang"/>
                <a:ea typeface="RIDIBatang"/>
                <a:cs typeface="RIDIBatang"/>
              </a:rPr>
              <a:t>https://</a:t>
            </a:r>
            <a:r>
              <a:rPr lang="en-US" sz="1467" dirty="0" err="1">
                <a:solidFill>
                  <a:srgbClr val="1C2B31"/>
                </a:solidFill>
                <a:latin typeface="RIDIBatang"/>
                <a:ea typeface="RIDIBatang"/>
                <a:cs typeface="RIDIBatang"/>
              </a:rPr>
              <a:t>www.avl-scrc.com</a:t>
            </a:r>
            <a:endParaRPr lang="en-US" sz="1467" dirty="0">
              <a:solidFill>
                <a:srgbClr val="1C2B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37908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 [1782986968811]">
  <a:themeElements>
    <a:clrScheme name="Office">
      <a:dk1>
        <a:srgbClr val="1C2B31"/>
      </a:dk1>
      <a:lt1>
        <a:srgbClr val="FFFFFF"/>
      </a:lt1>
      <a:dk2>
        <a:srgbClr val="0F6E8C"/>
      </a:dk2>
      <a:lt2>
        <a:srgbClr val="E4F4F9"/>
      </a:lt2>
      <a:accent1>
        <a:srgbClr val="18A0C4"/>
      </a:accent1>
      <a:accent2>
        <a:srgbClr val="0F7A9C"/>
      </a:accent2>
      <a:accent3>
        <a:srgbClr val="55BFD9"/>
      </a:accent3>
      <a:accent4>
        <a:srgbClr val="1D5A74"/>
      </a:accent4>
      <a:accent5>
        <a:srgbClr val="9AD7E6"/>
      </a:accent5>
      <a:accent6>
        <a:srgbClr val="E8A33D"/>
      </a:accent6>
      <a:hlink>
        <a:srgbClr val="0F7A9C"/>
      </a:hlink>
      <a:folHlink>
        <a:srgbClr val="55BFD9"/>
      </a:folHlink>
    </a:clrScheme>
    <a:fontScheme name="Office">
      <a:majorFont>
        <a:latin typeface="RIDIBatang"/>
        <a:ea typeface="RIDIBatang"/>
        <a:cs typeface=""/>
        <a:font script="Jpan" typeface="MS P????"/>
        <a:font script="Hang" typeface="RIDIBatang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RIDIBatang"/>
        <a:ea typeface="RIDIBatang"/>
        <a:cs typeface=""/>
        <a:font script="Jpan" typeface="MS P????"/>
        <a:font script="Hang" typeface="RIDIBatang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62D042C-049E-AB40-B6E4-DE0FFF2DFA7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7b03662-da17-4b84-8e4f-60a0c8ce385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25028</TotalTime>
  <Words>161</Words>
  <Application>Microsoft Macintosh PowerPoint</Application>
  <PresentationFormat>Widescreen</PresentationFormat>
  <Paragraphs>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RIDIBatang</vt:lpstr>
      <vt:lpstr>맑은 고딕</vt:lpstr>
      <vt:lpstr>Arial</vt:lpstr>
      <vt:lpstr>Office Theme [1782986968811]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officegen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양경진</cp:lastModifiedBy>
  <cp:revision>3318</cp:revision>
  <dcterms:created xsi:type="dcterms:W3CDTF">2024-04-28T15:09:03Z</dcterms:created>
  <dcterms:modified xsi:type="dcterms:W3CDTF">2026-10-08T12:43:00Z</dcterms:modified>
  <cp:version/>
</cp:coreProperties>
</file>