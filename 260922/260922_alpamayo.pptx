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2"/>
  </p:notesMasterIdLst>
  <p:sldIdLst>
    <p:sldId id="642" r:id="rId2"/>
    <p:sldId id="655" r:id="rId3"/>
    <p:sldId id="682" r:id="rId4"/>
    <p:sldId id="684" r:id="rId5"/>
    <p:sldId id="685" r:id="rId6"/>
    <p:sldId id="656" r:id="rId7"/>
    <p:sldId id="671" r:id="rId8"/>
    <p:sldId id="687" r:id="rId9"/>
    <p:sldId id="688" r:id="rId10"/>
    <p:sldId id="669" r:id="rId11"/>
  </p:sldIdLst>
  <p:sldSz cx="18288000" cy="10287000"/>
  <p:notesSz cx="10287000" cy="18288000"/>
  <p:embeddedFontLst>
    <p:embeddedFont>
      <p:font typeface="맑은 고딕" panose="020B0503020000020004" pitchFamily="34" charset="-127"/>
      <p:regular r:id="rId13"/>
      <p:bold r:id="rId14"/>
    </p:embeddedFont>
    <p:embeddedFont>
      <p:font typeface="RIDIBatang" panose="020B0600000101010101" pitchFamily="34" charset="-127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FFB2"/>
    <a:srgbClr val="33CC33"/>
    <a:srgbClr val="008000"/>
    <a:srgbClr val="7F77DD"/>
    <a:srgbClr val="FBE3D6"/>
    <a:srgbClr val="E8E8E8"/>
    <a:srgbClr val="091C78"/>
    <a:srgbClr val="F8D1BD"/>
    <a:srgbClr val="F6C6AD"/>
    <a:srgbClr val="001C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79" autoAdjust="0"/>
    <p:restoredTop sz="95342" autoAdjust="0"/>
  </p:normalViewPr>
  <p:slideViewPr>
    <p:cSldViewPr snapToGrid="0">
      <p:cViewPr>
        <p:scale>
          <a:sx n="179" d="100"/>
          <a:sy n="179" d="100"/>
        </p:scale>
        <p:origin x="-1752" y="-184"/>
      </p:cViewPr>
      <p:guideLst>
        <p:guide orient="horz" pos="2159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D840F7F-AD5D-4FF6-A2C5-5738B3594BCB}" type="datetime1">
              <a:rPr lang="ko-KR" altLang="en-US"/>
              <a:pPr lvl="0">
                <a:defRPr/>
              </a:pPr>
              <a:t>2026. 9. 21.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7372012"/>
            <a:ext cx="4457700" cy="9159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827713" y="17372012"/>
            <a:ext cx="4457700" cy="9159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32A972C-8E35-4764-B51D-0708E80F29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64F10-35B0-CF33-97CC-588FBC1A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3741D0-2BBB-98E2-13AC-98589BB8D8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FB7F0-4EBB-2729-9688-0C7E210CB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81B66A-51B7-B292-975A-9691BABF2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32A972C-8E35-4764-B51D-0708E80F29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4612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64F10-35B0-CF33-97CC-588FBC1A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3741D0-2BBB-98E2-13AC-98589BB8D8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FB7F0-4EBB-2729-9688-0C7E210CB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81B66A-51B7-B292-975A-9691BABF2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32A972C-8E35-4764-B51D-0708E80F29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4612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35B0C-9547-A146-2639-A74D5ABE8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0798AE-1D09-5E94-AA50-98BD179A48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E08E91-A4F6-77F4-448E-D0910636A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D621F8-E7D5-B378-B0AB-7FF4F45E6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32A972C-8E35-4764-B51D-0708E80F2967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7786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4E0F3-449D-CC9E-DDC0-6413B775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EECF6-0F61-C761-6D62-D94C442A1D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2CA72-B75C-3208-F18D-B570FF6369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데이터의 </a:t>
            </a:r>
            <a:r>
              <a:rPr lang="en-US" altLang="ko-KR" dirty="0"/>
              <a:t>Triplane </a:t>
            </a:r>
            <a:r>
              <a:rPr lang="ko-KR" altLang="en-US" dirty="0"/>
              <a:t>또는 </a:t>
            </a:r>
            <a:r>
              <a:rPr lang="en-US" altLang="ko-KR" dirty="0"/>
              <a:t>Flex </a:t>
            </a:r>
            <a:r>
              <a:rPr lang="ko-KR" altLang="en-US" dirty="0"/>
              <a:t>에서 분석하는 기법을 활용해서 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dirty="0"/>
              <a:t>C-track </a:t>
            </a:r>
            <a:r>
              <a:rPr lang="ko-KR" altLang="en-US" dirty="0"/>
              <a:t>의 데이터셋과의 비교를 통해서 유사함을 증명한다면</a:t>
            </a:r>
            <a:r>
              <a:rPr lang="en-US" altLang="ko-KR" dirty="0"/>
              <a:t>?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CAF50-5D4E-0EC2-5806-98E8E26C7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47036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E11D5-2E49-74E0-7D9D-FF0321E0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DCD7A-3E99-EE4A-1298-26C5777A20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D7657-EE50-1687-1995-160DC83770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AA43E-D135-C8A5-02FF-9EEE8A3BA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54884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64F10-35B0-CF33-97CC-588FBC1A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3741D0-2BBB-98E2-13AC-98589BB8D8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FB7F0-4EBB-2729-9688-0C7E210CB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81B66A-51B7-B292-975A-9691BABF2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32A972C-8E35-4764-B51D-0708E80F2967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4612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1862B-C968-EA0F-4A71-311AAA285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931EA-DF1F-9DEC-4BD2-C694789543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C0DAA-30B6-330F-ABC0-7BB9C59C5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446BF-5FE0-9443-A85B-6B574D160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50877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C7F11-CF74-5DB6-0CD7-133559794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04509-3814-3F61-1B27-778A311721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9A0CE-44CE-B5A2-1E3E-7F40D4C8A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lvl="0" indent="-171450">
              <a:buFontTx/>
              <a:buChar char="-"/>
            </a:pPr>
            <a:r>
              <a:rPr lang="ko-KR" altLang="en-US" dirty="0"/>
              <a:t>데이터의 </a:t>
            </a:r>
            <a:r>
              <a:rPr lang="en-US" altLang="ko-KR" dirty="0"/>
              <a:t>Triplane </a:t>
            </a:r>
            <a:r>
              <a:rPr lang="ko-KR" altLang="en-US" dirty="0"/>
              <a:t>또는 </a:t>
            </a:r>
            <a:r>
              <a:rPr lang="en-US" altLang="ko-KR" dirty="0"/>
              <a:t>Flex </a:t>
            </a:r>
            <a:r>
              <a:rPr lang="ko-KR" altLang="en-US" dirty="0"/>
              <a:t>에서 분석하는 기법을 활용해서 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C-track </a:t>
            </a:r>
            <a:r>
              <a:rPr lang="ko-KR" altLang="en-US" dirty="0"/>
              <a:t>의 데이터셋과의 비교를 통해서 유사함을 증명한다면</a:t>
            </a:r>
            <a:r>
              <a:rPr lang="en-US" altLang="ko-KR" dirty="0"/>
              <a:t>?</a:t>
            </a:r>
            <a:endParaRPr lang="ko-KR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94B75-B9A4-A5D4-20BD-6D3E947AB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94782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64F10-35B0-CF33-97CC-588FBC1A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3741D0-2BBB-98E2-13AC-98589BB8D8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FB7F0-4EBB-2729-9688-0C7E210CB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81B66A-51B7-B292-975A-9691BABF2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32A972C-8E35-4764-B51D-0708E80F2967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4612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8F0DE-9209-DB26-4524-CD58D5CFB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 Band"/>
          <p:cNvSpPr/>
          <p:nvPr/>
        </p:nvSpPr>
        <p:spPr>
          <a:xfrm>
            <a:off x="0" y="0"/>
            <a:ext cx="18288000" cy="5969000"/>
          </a:xfrm>
          <a:prstGeom prst="rect">
            <a:avLst/>
          </a:prstGeom>
          <a:gradFill>
            <a:gsLst>
              <a:gs pos="0">
                <a:srgbClr val="0C5A73"/>
              </a:gs>
              <a:gs pos="60000">
                <a:srgbClr val="0F6E8C"/>
              </a:gs>
              <a:gs pos="100000">
                <a:srgbClr val="18A0C4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0BE6CA6-715B-7B0A-4D6E-43A0ECDE2748}"/>
              </a:ext>
            </a:extLst>
          </p:cNvPr>
          <p:cNvSpPr txBox="1"/>
          <p:nvPr/>
        </p:nvSpPr>
        <p:spPr>
          <a:xfrm>
            <a:off x="1143000" y="3129002"/>
            <a:ext cx="16002000" cy="1107996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algn="l"/>
            <a:r>
              <a:rPr lang="en-US" altLang="ko-KR" sz="66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Alpamayo-R1</a:t>
            </a:r>
            <a:endParaRPr lang="ko-KR" altLang="en-US" sz="6600" b="1" dirty="0">
              <a:solidFill>
                <a:schemeClr val="bg1"/>
              </a:solidFill>
              <a:latin typeface="RIDIBatang"/>
              <a:ea typeface="RIDIBatang"/>
              <a:cs typeface="RIDIBatang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CB0010-FA70-83EE-06B1-C6D6E1AF7549}"/>
              </a:ext>
            </a:extLst>
          </p:cNvPr>
          <p:cNvSpPr/>
          <p:nvPr/>
        </p:nvSpPr>
        <p:spPr>
          <a:xfrm flipH="1">
            <a:off x="0" y="9259748"/>
            <a:ext cx="18285714" cy="81022"/>
          </a:xfrm>
          <a:prstGeom prst="rect">
            <a:avLst/>
          </a:prstGeom>
          <a:gradFill>
            <a:gsLst>
              <a:gs pos="0">
                <a:srgbClr val="9AD7E6"/>
              </a:gs>
              <a:gs pos="50000">
                <a:srgbClr val="18A0C4"/>
              </a:gs>
              <a:gs pos="100000">
                <a:srgbClr val="0F6E8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387AC9-9974-D7F8-373E-27085D37D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7790" y="9446022"/>
            <a:ext cx="1130300" cy="647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88C51C-D933-217C-6267-123A453C0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1686" y="9439754"/>
            <a:ext cx="612191" cy="734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937912-E546-D56C-1C49-197447EDE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54" y="9500911"/>
            <a:ext cx="1964410" cy="612313"/>
          </a:xfrm>
          <a:prstGeom prst="rect">
            <a:avLst/>
          </a:prstGeom>
        </p:spPr>
      </p:pic>
      <p:sp>
        <p:nvSpPr>
          <p:cNvPr id="101" name="Subtitle"/>
          <p:cNvSpPr txBox="1"/>
          <p:nvPr/>
        </p:nvSpPr>
        <p:spPr>
          <a:xfrm>
            <a:off x="1143000" y="4572000"/>
            <a:ext cx="1524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altLang="en-US" sz="2400" dirty="0">
                <a:solidFill>
                  <a:srgbClr val="E4F4F9"/>
                </a:solidFill>
                <a:latin typeface="RIDIBatang"/>
                <a:ea typeface="RIDIBatang"/>
                <a:cs typeface="RIDIBatang"/>
              </a:rPr>
              <a:t>논문리뷰</a:t>
            </a:r>
          </a:p>
        </p:txBody>
      </p:sp>
      <p:sp>
        <p:nvSpPr>
          <p:cNvPr id="102" name="Meta"/>
          <p:cNvSpPr txBox="1"/>
          <p:nvPr/>
        </p:nvSpPr>
        <p:spPr>
          <a:xfrm>
            <a:off x="1143000" y="6858000"/>
            <a:ext cx="1524000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lang="en-US" altLang="ko-KR" sz="2000" b="1" dirty="0">
                <a:solidFill>
                  <a:srgbClr val="0F6E8C"/>
                </a:solidFill>
                <a:latin typeface="RIDIBatang"/>
                <a:ea typeface="RIDIBatang"/>
                <a:cs typeface="RIDIBatang"/>
              </a:rPr>
              <a:t>AVLAB (Autonomous Vehicle Lab)</a:t>
            </a:r>
          </a:p>
          <a:p>
            <a:pPr algn="l">
              <a:lnSpc>
                <a:spcPct val="150000"/>
              </a:lnSpc>
            </a:pPr>
            <a:r>
              <a:rPr lang="ko-KR" altLang="en-US" sz="2000" dirty="0">
                <a:solidFill>
                  <a:srgbClr val="5A6A70"/>
                </a:solidFill>
                <a:latin typeface="RIDIBatang"/>
                <a:ea typeface="RIDIBatang"/>
                <a:cs typeface="RIDIBatang"/>
              </a:rPr>
              <a:t>양경진 ㅣ 2026. 09. </a:t>
            </a:r>
            <a:r>
              <a:rPr lang="en-US" altLang="ko-KR" sz="2000" dirty="0">
                <a:solidFill>
                  <a:srgbClr val="5A6A70"/>
                </a:solidFill>
                <a:latin typeface="RIDIBatang"/>
                <a:ea typeface="RIDIBatang"/>
                <a:cs typeface="RIDIBatang"/>
              </a:rPr>
              <a:t>22</a:t>
            </a:r>
            <a:r>
              <a:rPr lang="ko-KR" altLang="en-US" sz="2000" dirty="0">
                <a:solidFill>
                  <a:srgbClr val="5A6A70"/>
                </a:solidFill>
                <a:latin typeface="RIDIBatang"/>
                <a:ea typeface="RIDIBatang"/>
                <a:cs typeface="RIDIBatang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122920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8F0DE-9209-DB26-4524-CD58D5CFB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 Band"/>
          <p:cNvSpPr/>
          <p:nvPr/>
        </p:nvSpPr>
        <p:spPr>
          <a:xfrm>
            <a:off x="0" y="0"/>
            <a:ext cx="18288000" cy="1270000"/>
          </a:xfrm>
          <a:prstGeom prst="rect">
            <a:avLst/>
          </a:prstGeom>
          <a:gradFill>
            <a:gsLst>
              <a:gs pos="0">
                <a:srgbClr val="0C5A73"/>
              </a:gs>
              <a:gs pos="60000">
                <a:srgbClr val="0F6E8C"/>
              </a:gs>
              <a:gs pos="100000">
                <a:srgbClr val="18A0C4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0BE6CA6-715B-7B0A-4D6E-43A0ECDE2748}"/>
              </a:ext>
            </a:extLst>
          </p:cNvPr>
          <p:cNvSpPr txBox="1"/>
          <p:nvPr/>
        </p:nvSpPr>
        <p:spPr>
          <a:xfrm>
            <a:off x="609600" y="244800"/>
            <a:ext cx="1600200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48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1. </a:t>
            </a:r>
            <a:r>
              <a:rPr lang="en-US" altLang="ko-KR" sz="48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Architecture</a:t>
            </a:r>
            <a:endParaRPr lang="ko-KR" altLang="en-US" sz="4800" b="1" dirty="0">
              <a:solidFill>
                <a:schemeClr val="bg1"/>
              </a:solidFill>
              <a:latin typeface="RIDIBatang"/>
              <a:ea typeface="RIDIBatang"/>
              <a:cs typeface="RIDIBatang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CB0010-FA70-83EE-06B1-C6D6E1AF7549}"/>
              </a:ext>
            </a:extLst>
          </p:cNvPr>
          <p:cNvSpPr/>
          <p:nvPr/>
        </p:nvSpPr>
        <p:spPr>
          <a:xfrm flipH="1">
            <a:off x="0" y="9259748"/>
            <a:ext cx="18285714" cy="81022"/>
          </a:xfrm>
          <a:prstGeom prst="rect">
            <a:avLst/>
          </a:prstGeom>
          <a:gradFill>
            <a:gsLst>
              <a:gs pos="0">
                <a:srgbClr val="9AD7E6"/>
              </a:gs>
              <a:gs pos="50000">
                <a:srgbClr val="18A0C4"/>
              </a:gs>
              <a:gs pos="100000">
                <a:srgbClr val="0F6E8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387AC9-9974-D7F8-373E-27085D37D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7790" y="9446022"/>
            <a:ext cx="1130300" cy="647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88C51C-D933-217C-6267-123A453C0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1686" y="9439754"/>
            <a:ext cx="612191" cy="734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937912-E546-D56C-1C49-197447EDE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54" y="9500911"/>
            <a:ext cx="1964410" cy="612313"/>
          </a:xfrm>
          <a:prstGeom prst="rect">
            <a:avLst/>
          </a:prstGeom>
        </p:spPr>
      </p:pic>
      <p:sp>
        <p:nvSpPr>
          <p:cNvPr id="900" name="PageNum"/>
          <p:cNvSpPr txBox="1"/>
          <p:nvPr/>
        </p:nvSpPr>
        <p:spPr>
          <a:xfrm>
            <a:off x="15621000" y="355600"/>
            <a:ext cx="2032000" cy="558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en-US" sz="2400" dirty="0">
                <a:solidFill>
                  <a:srgbClr val="D6EEF5"/>
                </a:solidFill>
                <a:latin typeface="RIDIBatang"/>
                <a:ea typeface="RIDIBatang"/>
                <a:cs typeface="RIDIBatang"/>
              </a:rPr>
              <a:t>03.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BA71BF-6F1A-E8C3-3E6B-69C88A9F3B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0457" y="1601057"/>
            <a:ext cx="7772400" cy="70848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64F904-FB9B-85DC-C28B-9884D38B2F1B}"/>
              </a:ext>
            </a:extLst>
          </p:cNvPr>
          <p:cNvSpPr txBox="1"/>
          <p:nvPr/>
        </p:nvSpPr>
        <p:spPr>
          <a:xfrm>
            <a:off x="10041261" y="3720033"/>
            <a:ext cx="7942616" cy="3414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Modular VLA</a:t>
            </a: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input: Vision Encoder(DiNOv3),  Ego history, Text Encoder(Option)</a:t>
            </a: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Vison Encoder: Single Camera(</a:t>
            </a:r>
            <a:r>
              <a:rPr lang="ko-KR" altLang="en-US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논문</a:t>
            </a:r>
            <a:r>
              <a:rPr lang="en-US" altLang="ko-KR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),</a:t>
            </a:r>
            <a:r>
              <a:rPr lang="ko-KR" altLang="en-US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 </a:t>
            </a:r>
            <a:r>
              <a:rPr lang="en-US" altLang="ko-KR" dirty="0" err="1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Triplain</a:t>
            </a:r>
            <a:r>
              <a:rPr lang="en-US" altLang="ko-KR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(2025), Flex(2025)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E4E55"/>
                </a:solidFill>
                <a:cs typeface="RIDIBatang"/>
              </a:rPr>
              <a:t>CoC Dataset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70</a:t>
            </a:r>
            <a:r>
              <a:rPr lang="ko-KR" altLang="en-US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만개의 </a:t>
            </a:r>
            <a:r>
              <a:rPr lang="en-US" altLang="ko-KR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Video clips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Structured CoC(Causal Factors, Driving Decision, CoC Trace)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E4E55"/>
                </a:solidFill>
                <a:cs typeface="RIDIBatang"/>
              </a:rPr>
              <a:t>Multi step training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SFT(Supervised Fine Tuning) + RL(Reinforcement Learning)</a:t>
            </a:r>
          </a:p>
        </p:txBody>
      </p:sp>
    </p:spTree>
    <p:extLst>
      <p:ext uri="{BB962C8B-B14F-4D97-AF65-F5344CB8AC3E}">
        <p14:creationId xmlns:p14="http://schemas.microsoft.com/office/powerpoint/2010/main" val="357096475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16B1E-2541-AB95-B13F-B823EE935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 Band">
            <a:extLst>
              <a:ext uri="{FF2B5EF4-FFF2-40B4-BE49-F238E27FC236}">
                <a16:creationId xmlns:a16="http://schemas.microsoft.com/office/drawing/2014/main" id="{BDC4AA23-0108-915D-9C69-08B377272706}"/>
              </a:ext>
            </a:extLst>
          </p:cNvPr>
          <p:cNvSpPr/>
          <p:nvPr/>
        </p:nvSpPr>
        <p:spPr>
          <a:xfrm>
            <a:off x="0" y="0"/>
            <a:ext cx="18288000" cy="1270000"/>
          </a:xfrm>
          <a:prstGeom prst="rect">
            <a:avLst/>
          </a:prstGeom>
          <a:gradFill>
            <a:gsLst>
              <a:gs pos="0">
                <a:srgbClr val="0C5A73"/>
              </a:gs>
              <a:gs pos="60000">
                <a:srgbClr val="0F6E8C"/>
              </a:gs>
              <a:gs pos="100000">
                <a:srgbClr val="18A0C4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4D7E2BF-7832-7F06-7403-4EFCF5025CF5}"/>
              </a:ext>
            </a:extLst>
          </p:cNvPr>
          <p:cNvSpPr txBox="1"/>
          <p:nvPr/>
        </p:nvSpPr>
        <p:spPr>
          <a:xfrm>
            <a:off x="609600" y="244800"/>
            <a:ext cx="1600200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2. Vision Encoder</a:t>
            </a:r>
            <a:endParaRPr lang="ko-KR" altLang="en-US" sz="4800" b="1" dirty="0">
              <a:solidFill>
                <a:schemeClr val="bg1"/>
              </a:solidFill>
              <a:latin typeface="RIDIBatang"/>
              <a:ea typeface="RIDIBatang"/>
              <a:cs typeface="RIDIBatang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9538CE4-EFD9-D526-103C-752124C564A1}"/>
              </a:ext>
            </a:extLst>
          </p:cNvPr>
          <p:cNvSpPr/>
          <p:nvPr/>
        </p:nvSpPr>
        <p:spPr>
          <a:xfrm flipH="1">
            <a:off x="0" y="9259748"/>
            <a:ext cx="18285714" cy="81022"/>
          </a:xfrm>
          <a:prstGeom prst="rect">
            <a:avLst/>
          </a:prstGeom>
          <a:gradFill>
            <a:gsLst>
              <a:gs pos="0">
                <a:srgbClr val="9AD7E6"/>
              </a:gs>
              <a:gs pos="50000">
                <a:srgbClr val="18A0C4"/>
              </a:gs>
              <a:gs pos="100000">
                <a:srgbClr val="0F6E8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2630CC-E9B6-1B2D-0EB3-39DDC5E657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7790" y="9446022"/>
            <a:ext cx="1130300" cy="647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6E0DF0-AC5F-E4AA-12AD-B0615B3280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1686" y="9439754"/>
            <a:ext cx="612191" cy="734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A1EE3C-EC44-0BF8-2617-AF9DFDD0C5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54" y="9500911"/>
            <a:ext cx="1964410" cy="612313"/>
          </a:xfrm>
          <a:prstGeom prst="rect">
            <a:avLst/>
          </a:prstGeom>
        </p:spPr>
      </p:pic>
      <p:sp>
        <p:nvSpPr>
          <p:cNvPr id="900" name="PageNum">
            <a:extLst>
              <a:ext uri="{FF2B5EF4-FFF2-40B4-BE49-F238E27FC236}">
                <a16:creationId xmlns:a16="http://schemas.microsoft.com/office/drawing/2014/main" id="{AB2145BA-650A-9904-703A-4509B870926D}"/>
              </a:ext>
            </a:extLst>
          </p:cNvPr>
          <p:cNvSpPr txBox="1"/>
          <p:nvPr/>
        </p:nvSpPr>
        <p:spPr>
          <a:xfrm>
            <a:off x="15621000" y="355600"/>
            <a:ext cx="2032000" cy="558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en-US" sz="2400" dirty="0">
                <a:solidFill>
                  <a:srgbClr val="D6EEF5"/>
                </a:solidFill>
                <a:latin typeface="RIDIBatang"/>
                <a:ea typeface="RIDIBatang"/>
                <a:cs typeface="RIDIBatang"/>
              </a:rPr>
              <a:t>03.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8001200-04F9-B5A1-555F-36CAEA4F93D9}"/>
              </a:ext>
            </a:extLst>
          </p:cNvPr>
          <p:cNvSpPr/>
          <p:nvPr/>
        </p:nvSpPr>
        <p:spPr>
          <a:xfrm>
            <a:off x="978568" y="1524000"/>
            <a:ext cx="7448962" cy="7442200"/>
          </a:xfrm>
          <a:prstGeom prst="roundRect">
            <a:avLst>
              <a:gd name="adj" fmla="val 3000"/>
            </a:avLst>
          </a:prstGeom>
          <a:solidFill>
            <a:srgbClr val="F3F8FA"/>
          </a:solidFill>
          <a:ln w="22225">
            <a:solidFill>
              <a:srgbClr val="5FA9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91E6D8-58BA-5B46-09EE-C423C47ABD60}"/>
              </a:ext>
            </a:extLst>
          </p:cNvPr>
          <p:cNvSpPr txBox="1"/>
          <p:nvPr/>
        </p:nvSpPr>
        <p:spPr>
          <a:xfrm>
            <a:off x="1393985" y="2012037"/>
            <a:ext cx="4176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414F58"/>
                </a:solidFill>
                <a:latin typeface="RIDIBatang"/>
              </a:rPr>
              <a:t>Triplane(2025, </a:t>
            </a:r>
            <a:r>
              <a:rPr lang="en-US" altLang="ko-KR" sz="2000" b="1" dirty="0" err="1">
                <a:solidFill>
                  <a:srgbClr val="414F58"/>
                </a:solidFill>
                <a:latin typeface="RIDIBatang"/>
              </a:rPr>
              <a:t>nvidia</a:t>
            </a:r>
            <a:r>
              <a:rPr lang="en-US" altLang="ko-KR" sz="2000" b="1" dirty="0">
                <a:solidFill>
                  <a:srgbClr val="414F58"/>
                </a:solidFill>
                <a:latin typeface="RIDIBatang"/>
              </a:rPr>
              <a:t>)</a:t>
            </a:r>
            <a:endParaRPr lang="ko-KR" altLang="en-US" sz="2000" b="1" dirty="0">
              <a:solidFill>
                <a:srgbClr val="414F58"/>
              </a:solidFill>
              <a:latin typeface="RIDIBatang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91680AD-A0C0-4390-124D-BB3B08BCAC43}"/>
              </a:ext>
            </a:extLst>
          </p:cNvPr>
          <p:cNvSpPr/>
          <p:nvPr/>
        </p:nvSpPr>
        <p:spPr>
          <a:xfrm>
            <a:off x="9855200" y="1524000"/>
            <a:ext cx="7448962" cy="7442200"/>
          </a:xfrm>
          <a:prstGeom prst="roundRect">
            <a:avLst>
              <a:gd name="adj" fmla="val 3000"/>
            </a:avLst>
          </a:prstGeom>
          <a:solidFill>
            <a:srgbClr val="F3F8FA"/>
          </a:solidFill>
          <a:ln w="22225">
            <a:solidFill>
              <a:srgbClr val="5FA9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4818E6-E171-6A7D-5FB1-5941C73F10C4}"/>
              </a:ext>
            </a:extLst>
          </p:cNvPr>
          <p:cNvSpPr txBox="1"/>
          <p:nvPr/>
        </p:nvSpPr>
        <p:spPr>
          <a:xfrm>
            <a:off x="10270617" y="2012037"/>
            <a:ext cx="4176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414F58"/>
                </a:solidFill>
              </a:rPr>
              <a:t>Flex(2025, </a:t>
            </a:r>
            <a:r>
              <a:rPr lang="en-US" altLang="ko-KR" sz="2000" b="1" dirty="0" err="1">
                <a:solidFill>
                  <a:srgbClr val="414F58"/>
                </a:solidFill>
              </a:rPr>
              <a:t>nvidia</a:t>
            </a:r>
            <a:r>
              <a:rPr lang="en-US" altLang="ko-KR" sz="2000" b="1" dirty="0">
                <a:solidFill>
                  <a:srgbClr val="414F58"/>
                </a:solidFill>
              </a:rPr>
              <a:t>)</a:t>
            </a:r>
            <a:endParaRPr lang="ko-KR" altLang="en-US" sz="2000" b="1" dirty="0">
              <a:solidFill>
                <a:srgbClr val="414F58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4D7BBB2-D95F-C424-E8F7-7A86453B68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6496" y="2400509"/>
            <a:ext cx="4346369" cy="29694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B2CB620-BEA5-5FCC-9DD5-744A19D1A3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4050" y="2463099"/>
            <a:ext cx="5662599" cy="2540910"/>
          </a:xfrm>
          <a:prstGeom prst="rect">
            <a:avLst/>
          </a:prstGeom>
        </p:spPr>
      </p:pic>
      <p:sp>
        <p:nvSpPr>
          <p:cNvPr id="22" name="FlowBox">
            <a:extLst>
              <a:ext uri="{FF2B5EF4-FFF2-40B4-BE49-F238E27FC236}">
                <a16:creationId xmlns:a16="http://schemas.microsoft.com/office/drawing/2014/main" id="{4403C5C0-1018-F54E-AB3D-281C03E3DEA1}"/>
              </a:ext>
            </a:extLst>
          </p:cNvPr>
          <p:cNvSpPr/>
          <p:nvPr/>
        </p:nvSpPr>
        <p:spPr>
          <a:xfrm>
            <a:off x="2254250" y="5282992"/>
            <a:ext cx="4902200" cy="408152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9FB3B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C2B31"/>
                </a:solidFill>
              </a:rPr>
              <a:t>N cams (한 timestep)</a:t>
            </a:r>
          </a:p>
        </p:txBody>
      </p:sp>
      <p:sp>
        <p:nvSpPr>
          <p:cNvPr id="23" name="FlowBox">
            <a:extLst>
              <a:ext uri="{FF2B5EF4-FFF2-40B4-BE49-F238E27FC236}">
                <a16:creationId xmlns:a16="http://schemas.microsoft.com/office/drawing/2014/main" id="{9088829D-79C1-454F-A27E-3ADC10DAADB4}"/>
              </a:ext>
            </a:extLst>
          </p:cNvPr>
          <p:cNvSpPr/>
          <p:nvPr/>
        </p:nvSpPr>
        <p:spPr>
          <a:xfrm>
            <a:off x="2254250" y="6107537"/>
            <a:ext cx="4902200" cy="398659"/>
          </a:xfrm>
          <a:prstGeom prst="roundRect">
            <a:avLst/>
          </a:prstGeom>
          <a:solidFill>
            <a:srgbClr val="EAF5FA"/>
          </a:solidFill>
          <a:ln w="19050" cap="flat" cmpd="sng" algn="ctr">
            <a:solidFill>
              <a:srgbClr val="18A0C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4424F"/>
                </a:solidFill>
              </a:rPr>
              <a:t>ImageEnc: DINOv2-small (22M)</a:t>
            </a:r>
          </a:p>
        </p:txBody>
      </p:sp>
      <p:sp>
        <p:nvSpPr>
          <p:cNvPr id="24" name="FlowBox">
            <a:extLst>
              <a:ext uri="{FF2B5EF4-FFF2-40B4-BE49-F238E27FC236}">
                <a16:creationId xmlns:a16="http://schemas.microsoft.com/office/drawing/2014/main" id="{16309B73-0C2C-634F-BCFE-9AFE1EB9761C}"/>
              </a:ext>
            </a:extLst>
          </p:cNvPr>
          <p:cNvSpPr/>
          <p:nvPr/>
        </p:nvSpPr>
        <p:spPr>
          <a:xfrm>
            <a:off x="2254250" y="6922589"/>
            <a:ext cx="4902200" cy="734848"/>
          </a:xfrm>
          <a:prstGeom prst="roundRect">
            <a:avLst/>
          </a:prstGeom>
          <a:solidFill>
            <a:srgbClr val="EAF5FA"/>
          </a:solidFill>
          <a:ln w="19050" cap="flat" cmpd="sng" algn="ctr">
            <a:solidFill>
              <a:srgbClr val="18A0C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4424F"/>
                </a:solidFill>
              </a:rPr>
              <a:t>3D query grid 96×96×48 (D_f = 192)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200" dirty="0">
                <a:solidFill>
                  <a:srgbClr val="4A6B77"/>
                </a:solidFill>
              </a:rPr>
              <a:t>deformable attn으로 3D→2D 투영 · 4 layers</a:t>
            </a:r>
          </a:p>
        </p:txBody>
      </p:sp>
      <p:sp>
        <p:nvSpPr>
          <p:cNvPr id="25" name="FlowBox">
            <a:extLst>
              <a:ext uri="{FF2B5EF4-FFF2-40B4-BE49-F238E27FC236}">
                <a16:creationId xmlns:a16="http://schemas.microsoft.com/office/drawing/2014/main" id="{684BCD81-634D-A54D-84CC-83E95BF7CBDB}"/>
              </a:ext>
            </a:extLst>
          </p:cNvPr>
          <p:cNvSpPr/>
          <p:nvPr/>
        </p:nvSpPr>
        <p:spPr>
          <a:xfrm>
            <a:off x="2254250" y="8073827"/>
            <a:ext cx="4902200" cy="404648"/>
          </a:xfrm>
          <a:prstGeom prst="roundRect">
            <a:avLst/>
          </a:prstGeom>
          <a:solidFill>
            <a:srgbClr val="EAF5FA"/>
          </a:solidFill>
          <a:ln w="19050" cap="flat" cmpd="sng" algn="ctr">
            <a:solidFill>
              <a:srgbClr val="18A0C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4424F"/>
                </a:solidFill>
              </a:rPr>
              <a:t>축 방향 평균 → P_xy · P_xz · P_yz</a:t>
            </a:r>
          </a:p>
        </p:txBody>
      </p:sp>
      <p:sp>
        <p:nvSpPr>
          <p:cNvPr id="2" name="Half Frame 1">
            <a:extLst>
              <a:ext uri="{FF2B5EF4-FFF2-40B4-BE49-F238E27FC236}">
                <a16:creationId xmlns:a16="http://schemas.microsoft.com/office/drawing/2014/main" id="{A9CCCEDA-F22B-3786-C42C-C3F2DF11A066}"/>
              </a:ext>
            </a:extLst>
          </p:cNvPr>
          <p:cNvSpPr/>
          <p:nvPr/>
        </p:nvSpPr>
        <p:spPr>
          <a:xfrm rot="13500960">
            <a:off x="4606682" y="5800883"/>
            <a:ext cx="216000" cy="215594"/>
          </a:xfrm>
          <a:prstGeom prst="halfFrame">
            <a:avLst>
              <a:gd name="adj1" fmla="val 22820"/>
              <a:gd name="adj2" fmla="val 2194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>
              <a:solidFill>
                <a:schemeClr val="tx1"/>
              </a:solidFill>
            </a:endParaRPr>
          </a:p>
        </p:txBody>
      </p:sp>
      <p:sp>
        <p:nvSpPr>
          <p:cNvPr id="3" name="Half Frame 2">
            <a:extLst>
              <a:ext uri="{FF2B5EF4-FFF2-40B4-BE49-F238E27FC236}">
                <a16:creationId xmlns:a16="http://schemas.microsoft.com/office/drawing/2014/main" id="{C4C92782-5385-EEC5-DB7A-ADFEA98CBF16}"/>
              </a:ext>
            </a:extLst>
          </p:cNvPr>
          <p:cNvSpPr/>
          <p:nvPr/>
        </p:nvSpPr>
        <p:spPr>
          <a:xfrm rot="13500960">
            <a:off x="4606682" y="6615935"/>
            <a:ext cx="216000" cy="215594"/>
          </a:xfrm>
          <a:prstGeom prst="halfFrame">
            <a:avLst>
              <a:gd name="adj1" fmla="val 22820"/>
              <a:gd name="adj2" fmla="val 2194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15C20E60-9EC6-19FA-FB71-BDE758E567C3}"/>
              </a:ext>
            </a:extLst>
          </p:cNvPr>
          <p:cNvSpPr/>
          <p:nvPr/>
        </p:nvSpPr>
        <p:spPr>
          <a:xfrm rot="13500960">
            <a:off x="4606682" y="7767176"/>
            <a:ext cx="216000" cy="215594"/>
          </a:xfrm>
          <a:prstGeom prst="halfFrame">
            <a:avLst>
              <a:gd name="adj1" fmla="val 22820"/>
              <a:gd name="adj2" fmla="val 2194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>
              <a:solidFill>
                <a:schemeClr val="tx1"/>
              </a:solidFill>
            </a:endParaRPr>
          </a:p>
        </p:txBody>
      </p:sp>
      <p:sp>
        <p:nvSpPr>
          <p:cNvPr id="8" name="FlowBoxR">
            <a:extLst>
              <a:ext uri="{FF2B5EF4-FFF2-40B4-BE49-F238E27FC236}">
                <a16:creationId xmlns:a16="http://schemas.microsoft.com/office/drawing/2014/main" id="{11246AC3-9BE3-B741-96EE-56047B02E434}"/>
              </a:ext>
            </a:extLst>
          </p:cNvPr>
          <p:cNvSpPr/>
          <p:nvPr/>
        </p:nvSpPr>
        <p:spPr>
          <a:xfrm>
            <a:off x="11133246" y="5533253"/>
            <a:ext cx="4902200" cy="4064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9FB3B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C2B31"/>
                </a:solidFill>
              </a:rPr>
              <a:t>C cams × T timesteps 이미지 (2×9 = 18장)</a:t>
            </a:r>
          </a:p>
        </p:txBody>
      </p:sp>
      <p:sp>
        <p:nvSpPr>
          <p:cNvPr id="11" name="FlowBoxR">
            <a:extLst>
              <a:ext uri="{FF2B5EF4-FFF2-40B4-BE49-F238E27FC236}">
                <a16:creationId xmlns:a16="http://schemas.microsoft.com/office/drawing/2014/main" id="{4A9577AC-BA38-2544-BB6B-5B8757051ABA}"/>
              </a:ext>
            </a:extLst>
          </p:cNvPr>
          <p:cNvSpPr/>
          <p:nvPr/>
        </p:nvSpPr>
        <p:spPr>
          <a:xfrm>
            <a:off x="11133246" y="6271169"/>
            <a:ext cx="4902200" cy="736600"/>
          </a:xfrm>
          <a:prstGeom prst="roundRect">
            <a:avLst/>
          </a:prstGeom>
          <a:solidFill>
            <a:srgbClr val="EAF5FA"/>
          </a:solidFill>
          <a:ln w="19050" cap="flat" cmpd="sng" algn="ctr">
            <a:solidFill>
              <a:srgbClr val="18A0C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4424F"/>
                </a:solidFill>
              </a:rPr>
              <a:t>DINOv2 patchifier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200" dirty="0">
                <a:solidFill>
                  <a:srgbClr val="4A6B77"/>
                </a:solidFill>
              </a:rPr>
              <a:t>+ timestep PE (DiT) · camera-type embedding</a:t>
            </a:r>
          </a:p>
        </p:txBody>
      </p:sp>
      <p:sp>
        <p:nvSpPr>
          <p:cNvPr id="15" name="FlowBoxR">
            <a:extLst>
              <a:ext uri="{FF2B5EF4-FFF2-40B4-BE49-F238E27FC236}">
                <a16:creationId xmlns:a16="http://schemas.microsoft.com/office/drawing/2014/main" id="{C79B78F4-64E7-794F-B3E4-FB14840E0988}"/>
              </a:ext>
            </a:extLst>
          </p:cNvPr>
          <p:cNvSpPr/>
          <p:nvPr/>
        </p:nvSpPr>
        <p:spPr>
          <a:xfrm>
            <a:off x="11133246" y="7339285"/>
            <a:ext cx="4902200" cy="736600"/>
          </a:xfrm>
          <a:prstGeom prst="roundRect">
            <a:avLst/>
          </a:prstGeom>
          <a:solidFill>
            <a:srgbClr val="EAF5FA"/>
          </a:solidFill>
          <a:ln w="19050" cap="flat" cmpd="sng" algn="ctr">
            <a:solidFill>
              <a:srgbClr val="18A0C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4424F"/>
                </a:solidFill>
              </a:rPr>
              <a:t>[ K scene tokens ; 모든 image tokens ]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200" dirty="0">
                <a:solidFill>
                  <a:srgbClr val="4A6B77"/>
                </a:solidFill>
              </a:rPr>
              <a:t>8-layer full self-attn (cross-view · cross-time)</a:t>
            </a:r>
          </a:p>
        </p:txBody>
      </p:sp>
      <p:sp>
        <p:nvSpPr>
          <p:cNvPr id="29" name="FlowBoxR">
            <a:extLst>
              <a:ext uri="{FF2B5EF4-FFF2-40B4-BE49-F238E27FC236}">
                <a16:creationId xmlns:a16="http://schemas.microsoft.com/office/drawing/2014/main" id="{E4764ED3-3163-4649-B29F-CB3E7A4A6FC6}"/>
              </a:ext>
            </a:extLst>
          </p:cNvPr>
          <p:cNvSpPr/>
          <p:nvPr/>
        </p:nvSpPr>
        <p:spPr>
          <a:xfrm>
            <a:off x="11133246" y="8407400"/>
            <a:ext cx="4902200" cy="406400"/>
          </a:xfrm>
          <a:prstGeom prst="roundRect">
            <a:avLst/>
          </a:prstGeom>
          <a:solidFill>
            <a:srgbClr val="EAF5FA"/>
          </a:solidFill>
          <a:ln w="19050" cap="flat" cmpd="sng" algn="ctr">
            <a:solidFill>
              <a:srgbClr val="18A0C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4424F"/>
                </a:solidFill>
              </a:rPr>
              <a:t>image tokens 폐기 → K scene tokens (K = 900)</a:t>
            </a:r>
          </a:p>
        </p:txBody>
      </p:sp>
      <p:sp>
        <p:nvSpPr>
          <p:cNvPr id="101" name="FlowArrowR 101">
            <a:extLst>
              <a:ext uri="{FF2B5EF4-FFF2-40B4-BE49-F238E27FC236}">
                <a16:creationId xmlns:a16="http://schemas.microsoft.com/office/drawing/2014/main" id="{A9CCCEDA-F22B-3786-C42C-C3F2DF11A066}"/>
              </a:ext>
            </a:extLst>
          </p:cNvPr>
          <p:cNvSpPr/>
          <p:nvPr/>
        </p:nvSpPr>
        <p:spPr>
          <a:xfrm rot="13500960">
            <a:off x="13476346" y="5997614"/>
            <a:ext cx="216000" cy="215594"/>
          </a:xfrm>
          <a:prstGeom prst="halfFrame">
            <a:avLst>
              <a:gd name="adj1" fmla="val 22820"/>
              <a:gd name="adj2" fmla="val 2194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>
              <a:solidFill>
                <a:schemeClr val="tx1"/>
              </a:solidFill>
            </a:endParaRPr>
          </a:p>
        </p:txBody>
      </p:sp>
      <p:sp>
        <p:nvSpPr>
          <p:cNvPr id="102" name="FlowArrowR 102">
            <a:extLst>
              <a:ext uri="{FF2B5EF4-FFF2-40B4-BE49-F238E27FC236}">
                <a16:creationId xmlns:a16="http://schemas.microsoft.com/office/drawing/2014/main" id="{A9CCCEDA-F22B-3786-C42C-C3F2DF11A066}"/>
              </a:ext>
            </a:extLst>
          </p:cNvPr>
          <p:cNvSpPr/>
          <p:nvPr/>
        </p:nvSpPr>
        <p:spPr>
          <a:xfrm rot="13500960">
            <a:off x="13476346" y="7065730"/>
            <a:ext cx="216000" cy="215594"/>
          </a:xfrm>
          <a:prstGeom prst="halfFrame">
            <a:avLst>
              <a:gd name="adj1" fmla="val 22820"/>
              <a:gd name="adj2" fmla="val 2194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>
              <a:solidFill>
                <a:schemeClr val="tx1"/>
              </a:solidFill>
            </a:endParaRPr>
          </a:p>
        </p:txBody>
      </p:sp>
      <p:sp>
        <p:nvSpPr>
          <p:cNvPr id="103" name="FlowArrowR 103">
            <a:extLst>
              <a:ext uri="{FF2B5EF4-FFF2-40B4-BE49-F238E27FC236}">
                <a16:creationId xmlns:a16="http://schemas.microsoft.com/office/drawing/2014/main" id="{A9CCCEDA-F22B-3786-C42C-C3F2DF11A066}"/>
              </a:ext>
            </a:extLst>
          </p:cNvPr>
          <p:cNvSpPr/>
          <p:nvPr/>
        </p:nvSpPr>
        <p:spPr>
          <a:xfrm rot="13500960">
            <a:off x="13476346" y="8133846"/>
            <a:ext cx="216000" cy="215594"/>
          </a:xfrm>
          <a:prstGeom prst="halfFrame">
            <a:avLst>
              <a:gd name="adj1" fmla="val 22820"/>
              <a:gd name="adj2" fmla="val 2194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49516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63741-0C5C-A296-2AAF-D7E2D1E37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 Band">
            <a:extLst>
              <a:ext uri="{FF2B5EF4-FFF2-40B4-BE49-F238E27FC236}">
                <a16:creationId xmlns:a16="http://schemas.microsoft.com/office/drawing/2014/main" id="{1636203A-A8EF-4C76-F1F2-3D2D2BDFE147}"/>
              </a:ext>
            </a:extLst>
          </p:cNvPr>
          <p:cNvSpPr/>
          <p:nvPr/>
        </p:nvSpPr>
        <p:spPr>
          <a:xfrm>
            <a:off x="0" y="0"/>
            <a:ext cx="18288000" cy="1270000"/>
          </a:xfrm>
          <a:prstGeom prst="rect">
            <a:avLst/>
          </a:prstGeom>
          <a:gradFill>
            <a:gsLst>
              <a:gs pos="0">
                <a:srgbClr val="0C5A73"/>
              </a:gs>
              <a:gs pos="60000">
                <a:srgbClr val="0F6E8C"/>
              </a:gs>
              <a:gs pos="100000">
                <a:srgbClr val="18A0C4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FE830FC-FE85-179F-FE9D-37F45D3BA69E}"/>
              </a:ext>
            </a:extLst>
          </p:cNvPr>
          <p:cNvSpPr txBox="1"/>
          <p:nvPr/>
        </p:nvSpPr>
        <p:spPr>
          <a:xfrm>
            <a:off x="609600" y="244800"/>
            <a:ext cx="1600200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3</a:t>
            </a:r>
            <a:r>
              <a:rPr lang="ko-KR" altLang="en-US" sz="48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. </a:t>
            </a:r>
            <a:r>
              <a:rPr lang="en-US" altLang="ko-KR" sz="48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CoC Dataset</a:t>
            </a:r>
            <a:endParaRPr lang="ko-KR" altLang="en-US" sz="4800" b="1" dirty="0">
              <a:solidFill>
                <a:schemeClr val="bg1"/>
              </a:solidFill>
              <a:latin typeface="RIDIBatang"/>
              <a:ea typeface="RIDIBatang"/>
              <a:cs typeface="RIDIBatang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02ECD7-C38D-D37F-5570-2827DE71DB34}"/>
              </a:ext>
            </a:extLst>
          </p:cNvPr>
          <p:cNvSpPr/>
          <p:nvPr/>
        </p:nvSpPr>
        <p:spPr>
          <a:xfrm flipH="1">
            <a:off x="0" y="9259748"/>
            <a:ext cx="18285714" cy="81022"/>
          </a:xfrm>
          <a:prstGeom prst="rect">
            <a:avLst/>
          </a:prstGeom>
          <a:gradFill>
            <a:gsLst>
              <a:gs pos="0">
                <a:srgbClr val="9AD7E6"/>
              </a:gs>
              <a:gs pos="50000">
                <a:srgbClr val="18A0C4"/>
              </a:gs>
              <a:gs pos="100000">
                <a:srgbClr val="0F6E8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4247E2-CC31-906F-B594-998C2E74C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7790" y="9446022"/>
            <a:ext cx="1130300" cy="647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98B62D-BDC0-C9E0-B750-9ACF877EED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1686" y="9439754"/>
            <a:ext cx="612191" cy="734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3376A0-CA46-E1A6-CAFB-E2EDE2AA4B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54" y="9500911"/>
            <a:ext cx="1964410" cy="612313"/>
          </a:xfrm>
          <a:prstGeom prst="rect">
            <a:avLst/>
          </a:prstGeom>
        </p:spPr>
      </p:pic>
      <p:sp>
        <p:nvSpPr>
          <p:cNvPr id="900" name="PageNum">
            <a:extLst>
              <a:ext uri="{FF2B5EF4-FFF2-40B4-BE49-F238E27FC236}">
                <a16:creationId xmlns:a16="http://schemas.microsoft.com/office/drawing/2014/main" id="{C96910C9-AE01-F34A-A00F-A3D986B7DB75}"/>
              </a:ext>
            </a:extLst>
          </p:cNvPr>
          <p:cNvSpPr txBox="1"/>
          <p:nvPr/>
        </p:nvSpPr>
        <p:spPr>
          <a:xfrm>
            <a:off x="15621000" y="355600"/>
            <a:ext cx="2032000" cy="558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en-US" sz="2400" dirty="0">
                <a:solidFill>
                  <a:srgbClr val="D6EEF5"/>
                </a:solidFill>
                <a:latin typeface="RIDIBatang"/>
                <a:ea typeface="RIDIBatang"/>
                <a:cs typeface="RIDIBatang"/>
              </a:rPr>
              <a:t>05.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DA86EB-3FEF-68B5-335D-1B9626C351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417" y="1779646"/>
            <a:ext cx="15233373" cy="67277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CF93B7-8753-976D-4628-C6E8F9951CFB}"/>
              </a:ext>
            </a:extLst>
          </p:cNvPr>
          <p:cNvSpPr txBox="1"/>
          <p:nvPr/>
        </p:nvSpPr>
        <p:spPr>
          <a:xfrm>
            <a:off x="13610554" y="7285640"/>
            <a:ext cx="4280452" cy="1885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Structured CoC</a:t>
            </a: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Causal Factors(Open-set)</a:t>
            </a: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Driving Decision(Close-set)</a:t>
            </a: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Composed CoC Traces</a:t>
            </a:r>
          </a:p>
        </p:txBody>
      </p:sp>
    </p:spTree>
    <p:extLst>
      <p:ext uri="{BB962C8B-B14F-4D97-AF65-F5344CB8AC3E}">
        <p14:creationId xmlns:p14="http://schemas.microsoft.com/office/powerpoint/2010/main" val="1419002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3C76D-D056-C407-7679-C3C6B5E98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 Band">
            <a:extLst>
              <a:ext uri="{FF2B5EF4-FFF2-40B4-BE49-F238E27FC236}">
                <a16:creationId xmlns:a16="http://schemas.microsoft.com/office/drawing/2014/main" id="{A96FE709-0C1B-82CF-2F69-2124C46DE3E4}"/>
              </a:ext>
            </a:extLst>
          </p:cNvPr>
          <p:cNvSpPr/>
          <p:nvPr/>
        </p:nvSpPr>
        <p:spPr>
          <a:xfrm>
            <a:off x="0" y="0"/>
            <a:ext cx="18288000" cy="1270000"/>
          </a:xfrm>
          <a:prstGeom prst="rect">
            <a:avLst/>
          </a:prstGeom>
          <a:gradFill>
            <a:gsLst>
              <a:gs pos="0">
                <a:srgbClr val="0C5A73"/>
              </a:gs>
              <a:gs pos="60000">
                <a:srgbClr val="0F6E8C"/>
              </a:gs>
              <a:gs pos="100000">
                <a:srgbClr val="18A0C4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FCB175B-6C2E-1CE7-78D4-CAF46A69AC23}"/>
              </a:ext>
            </a:extLst>
          </p:cNvPr>
          <p:cNvSpPr txBox="1"/>
          <p:nvPr/>
        </p:nvSpPr>
        <p:spPr>
          <a:xfrm>
            <a:off x="609600" y="244800"/>
            <a:ext cx="1600200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3</a:t>
            </a:r>
            <a:r>
              <a:rPr lang="ko-KR" altLang="en-US" sz="48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. </a:t>
            </a:r>
            <a:r>
              <a:rPr lang="en-US" altLang="ko-KR" sz="48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CoC Dataset</a:t>
            </a:r>
            <a:endParaRPr lang="ko-KR" altLang="en-US" sz="4800" b="1" dirty="0">
              <a:solidFill>
                <a:schemeClr val="bg1"/>
              </a:solidFill>
              <a:latin typeface="RIDIBatang"/>
              <a:ea typeface="RIDIBatang"/>
              <a:cs typeface="RIDIBatang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EB593A2-7846-0E6A-66C9-891C12D57577}"/>
              </a:ext>
            </a:extLst>
          </p:cNvPr>
          <p:cNvSpPr/>
          <p:nvPr/>
        </p:nvSpPr>
        <p:spPr>
          <a:xfrm flipH="1">
            <a:off x="0" y="9259748"/>
            <a:ext cx="18285714" cy="81022"/>
          </a:xfrm>
          <a:prstGeom prst="rect">
            <a:avLst/>
          </a:prstGeom>
          <a:gradFill>
            <a:gsLst>
              <a:gs pos="0">
                <a:srgbClr val="9AD7E6"/>
              </a:gs>
              <a:gs pos="50000">
                <a:srgbClr val="18A0C4"/>
              </a:gs>
              <a:gs pos="100000">
                <a:srgbClr val="0F6E8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FB2590-12F1-F67E-C411-5A7D0B6FB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7790" y="9446022"/>
            <a:ext cx="1130300" cy="647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3C909E-832E-4185-22AA-0F93AE6DBA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1686" y="9439754"/>
            <a:ext cx="612191" cy="734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07BBE6-022E-140F-1F66-477CE8FD4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54" y="9500911"/>
            <a:ext cx="1964410" cy="612313"/>
          </a:xfrm>
          <a:prstGeom prst="rect">
            <a:avLst/>
          </a:prstGeom>
        </p:spPr>
      </p:pic>
      <p:sp>
        <p:nvSpPr>
          <p:cNvPr id="900" name="PageNum">
            <a:extLst>
              <a:ext uri="{FF2B5EF4-FFF2-40B4-BE49-F238E27FC236}">
                <a16:creationId xmlns:a16="http://schemas.microsoft.com/office/drawing/2014/main" id="{C2DA3636-F15A-12DD-A18E-2BCAF84D206B}"/>
              </a:ext>
            </a:extLst>
          </p:cNvPr>
          <p:cNvSpPr txBox="1"/>
          <p:nvPr/>
        </p:nvSpPr>
        <p:spPr>
          <a:xfrm>
            <a:off x="15621000" y="355600"/>
            <a:ext cx="2032000" cy="558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en-US" sz="2400" dirty="0">
                <a:solidFill>
                  <a:srgbClr val="D6EEF5"/>
                </a:solidFill>
                <a:latin typeface="RIDIBatang"/>
                <a:ea typeface="RIDIBatang"/>
                <a:cs typeface="RIDIBatang"/>
              </a:rPr>
              <a:t>05.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33782-D5D1-022C-90E7-040575D6BE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6286" y="2373086"/>
            <a:ext cx="6239422" cy="61333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F2FF54-7104-3369-E532-C2A37FF880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2114" y="2461516"/>
            <a:ext cx="7772400" cy="560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24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8F0DE-9209-DB26-4524-CD58D5CFB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 Band"/>
          <p:cNvSpPr/>
          <p:nvPr/>
        </p:nvSpPr>
        <p:spPr>
          <a:xfrm>
            <a:off x="0" y="0"/>
            <a:ext cx="18288000" cy="1270000"/>
          </a:xfrm>
          <a:prstGeom prst="rect">
            <a:avLst/>
          </a:prstGeom>
          <a:gradFill>
            <a:gsLst>
              <a:gs pos="0">
                <a:srgbClr val="0C5A73"/>
              </a:gs>
              <a:gs pos="60000">
                <a:srgbClr val="0F6E8C"/>
              </a:gs>
              <a:gs pos="100000">
                <a:srgbClr val="18A0C4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0BE6CA6-715B-7B0A-4D6E-43A0ECDE2748}"/>
              </a:ext>
            </a:extLst>
          </p:cNvPr>
          <p:cNvSpPr txBox="1"/>
          <p:nvPr/>
        </p:nvSpPr>
        <p:spPr>
          <a:xfrm>
            <a:off x="609600" y="244800"/>
            <a:ext cx="1600200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4.</a:t>
            </a:r>
            <a:r>
              <a:rPr lang="ko-KR" altLang="en-US" sz="48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 </a:t>
            </a:r>
            <a:r>
              <a:rPr lang="en-US" altLang="ko-KR" sz="48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Training Pipeline</a:t>
            </a:r>
            <a:endParaRPr lang="ko-KR" altLang="en-US" sz="4800" b="1" dirty="0">
              <a:solidFill>
                <a:schemeClr val="bg1"/>
              </a:solidFill>
              <a:latin typeface="RIDIBatang"/>
              <a:ea typeface="RIDIBatang"/>
              <a:cs typeface="RIDIBatang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CB0010-FA70-83EE-06B1-C6D6E1AF7549}"/>
              </a:ext>
            </a:extLst>
          </p:cNvPr>
          <p:cNvSpPr/>
          <p:nvPr/>
        </p:nvSpPr>
        <p:spPr>
          <a:xfrm flipH="1">
            <a:off x="0" y="9259748"/>
            <a:ext cx="18285714" cy="81022"/>
          </a:xfrm>
          <a:prstGeom prst="rect">
            <a:avLst/>
          </a:prstGeom>
          <a:gradFill>
            <a:gsLst>
              <a:gs pos="0">
                <a:srgbClr val="9AD7E6"/>
              </a:gs>
              <a:gs pos="50000">
                <a:srgbClr val="18A0C4"/>
              </a:gs>
              <a:gs pos="100000">
                <a:srgbClr val="0F6E8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387AC9-9974-D7F8-373E-27085D37D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7790" y="9446022"/>
            <a:ext cx="1130300" cy="647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88C51C-D933-217C-6267-123A453C0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1686" y="9439754"/>
            <a:ext cx="612191" cy="734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937912-E546-D56C-1C49-197447EDE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54" y="9500911"/>
            <a:ext cx="1964410" cy="612313"/>
          </a:xfrm>
          <a:prstGeom prst="rect">
            <a:avLst/>
          </a:prstGeom>
        </p:spPr>
      </p:pic>
      <p:sp>
        <p:nvSpPr>
          <p:cNvPr id="900" name="PageNum"/>
          <p:cNvSpPr txBox="1"/>
          <p:nvPr/>
        </p:nvSpPr>
        <p:spPr>
          <a:xfrm>
            <a:off x="15621000" y="355600"/>
            <a:ext cx="2032000" cy="558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en-US" sz="2400" dirty="0">
                <a:solidFill>
                  <a:srgbClr val="D6EEF5"/>
                </a:solidFill>
                <a:latin typeface="RIDIBatang"/>
                <a:ea typeface="RIDIBatang"/>
                <a:cs typeface="RIDIBatang"/>
              </a:rPr>
              <a:t>04.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125D18-A508-C955-0646-A115D4C0EB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6901" y="1810141"/>
            <a:ext cx="16216099" cy="666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1977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 Band"/>
          <p:cNvSpPr/>
          <p:nvPr/>
        </p:nvSpPr>
        <p:spPr>
          <a:xfrm>
            <a:off x="0" y="0"/>
            <a:ext cx="18288000" cy="1270000"/>
          </a:xfrm>
          <a:prstGeom prst="rect">
            <a:avLst/>
          </a:prstGeom>
          <a:gradFill>
            <a:gsLst>
              <a:gs pos="0">
                <a:srgbClr val="0C5A73"/>
              </a:gs>
              <a:gs pos="60000">
                <a:srgbClr val="0F6E8C"/>
              </a:gs>
              <a:gs pos="100000">
                <a:srgbClr val="18A0C4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0BE6CA6-715B-7B0A-4D6E-43A0ECDE2748}"/>
              </a:ext>
            </a:extLst>
          </p:cNvPr>
          <p:cNvSpPr txBox="1"/>
          <p:nvPr/>
        </p:nvSpPr>
        <p:spPr>
          <a:xfrm>
            <a:off x="609600" y="244800"/>
            <a:ext cx="1600200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5.</a:t>
            </a:r>
            <a:r>
              <a:rPr lang="ko-KR" altLang="en-US" sz="48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 </a:t>
            </a:r>
            <a:r>
              <a:rPr lang="en-US" altLang="ko-KR" sz="48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RL Post-Training</a:t>
            </a:r>
            <a:endParaRPr lang="ko-KR" altLang="en-US" sz="4800" b="1" dirty="0">
              <a:solidFill>
                <a:schemeClr val="bg1"/>
              </a:solidFill>
              <a:latin typeface="RIDIBatang"/>
              <a:ea typeface="RIDIBatang"/>
              <a:cs typeface="RIDIBatang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CB0010-FA70-83EE-06B1-C6D6E1AF7549}"/>
              </a:ext>
            </a:extLst>
          </p:cNvPr>
          <p:cNvSpPr/>
          <p:nvPr/>
        </p:nvSpPr>
        <p:spPr>
          <a:xfrm flipH="1">
            <a:off x="0" y="9259748"/>
            <a:ext cx="18285714" cy="81022"/>
          </a:xfrm>
          <a:prstGeom prst="rect">
            <a:avLst/>
          </a:prstGeom>
          <a:gradFill>
            <a:gsLst>
              <a:gs pos="0">
                <a:srgbClr val="9AD7E6"/>
              </a:gs>
              <a:gs pos="50000">
                <a:srgbClr val="18A0C4"/>
              </a:gs>
              <a:gs pos="100000">
                <a:srgbClr val="0F6E8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387AC9-9974-D7F8-373E-27085D37D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7790" y="9446022"/>
            <a:ext cx="1130300" cy="647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88C51C-D933-217C-6267-123A453C0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1686" y="9439754"/>
            <a:ext cx="612191" cy="734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937912-E546-D56C-1C49-197447EDE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54" y="9500911"/>
            <a:ext cx="1964410" cy="612313"/>
          </a:xfrm>
          <a:prstGeom prst="rect">
            <a:avLst/>
          </a:prstGeom>
        </p:spPr>
      </p:pic>
      <p:sp>
        <p:nvSpPr>
          <p:cNvPr id="900" name="PageNum"/>
          <p:cNvSpPr txBox="1"/>
          <p:nvPr/>
        </p:nvSpPr>
        <p:spPr>
          <a:xfrm>
            <a:off x="15621000" y="355600"/>
            <a:ext cx="2032000" cy="558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en-US" sz="2400" dirty="0">
                <a:solidFill>
                  <a:srgbClr val="D6EEF5"/>
                </a:solidFill>
                <a:latin typeface="RIDIBatang"/>
                <a:ea typeface="RIDIBatang"/>
                <a:cs typeface="RIDIBatang"/>
              </a:rPr>
              <a:t>05.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7290C7-F9D5-7F3E-C055-1E91DD965C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434" b="13303"/>
          <a:stretch>
            <a:fillRect/>
          </a:stretch>
        </p:blipFill>
        <p:spPr>
          <a:xfrm>
            <a:off x="1721960" y="2215549"/>
            <a:ext cx="14253430" cy="6587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E319E9-FE5C-D3C5-0267-E50CD839A1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684" y="1759335"/>
            <a:ext cx="3963160" cy="19844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247A4F-AD48-9E9A-9F8B-55A4A4C88B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8758" y="1835946"/>
            <a:ext cx="3808663" cy="1831192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F7CF93B7-8753-976D-4628-C6E8F9951CFB}"/>
              </a:ext>
            </a:extLst>
          </p:cNvPr>
          <p:cNvSpPr txBox="1"/>
          <p:nvPr/>
        </p:nvSpPr>
        <p:spPr>
          <a:xfrm>
            <a:off x="234877" y="1302904"/>
            <a:ext cx="1487083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LRT critic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9CE4F383-47A5-AEE0-BB17-A2B494578911}"/>
              </a:ext>
            </a:extLst>
          </p:cNvPr>
          <p:cNvSpPr txBox="1"/>
          <p:nvPr/>
        </p:nvSpPr>
        <p:spPr>
          <a:xfrm>
            <a:off x="4048758" y="1297503"/>
            <a:ext cx="2558871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Reason Consistency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9A48D-27A1-F375-4C9F-BF781440D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 Band">
            <a:extLst>
              <a:ext uri="{FF2B5EF4-FFF2-40B4-BE49-F238E27FC236}">
                <a16:creationId xmlns:a16="http://schemas.microsoft.com/office/drawing/2014/main" id="{48B0C906-D107-6E76-D4D8-BE505B6D239F}"/>
              </a:ext>
            </a:extLst>
          </p:cNvPr>
          <p:cNvSpPr/>
          <p:nvPr/>
        </p:nvSpPr>
        <p:spPr>
          <a:xfrm>
            <a:off x="0" y="0"/>
            <a:ext cx="18288000" cy="1270000"/>
          </a:xfrm>
          <a:prstGeom prst="rect">
            <a:avLst/>
          </a:prstGeom>
          <a:gradFill>
            <a:gsLst>
              <a:gs pos="0">
                <a:srgbClr val="0C5A73"/>
              </a:gs>
              <a:gs pos="60000">
                <a:srgbClr val="0F6E8C"/>
              </a:gs>
              <a:gs pos="100000">
                <a:srgbClr val="18A0C4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036DFE5-16EB-A39E-433F-F9D8D3FDD581}"/>
              </a:ext>
            </a:extLst>
          </p:cNvPr>
          <p:cNvSpPr txBox="1"/>
          <p:nvPr/>
        </p:nvSpPr>
        <p:spPr>
          <a:xfrm>
            <a:off x="609600" y="275578"/>
            <a:ext cx="1600200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6. Results &amp; </a:t>
            </a:r>
            <a:r>
              <a:rPr lang="ko-KR" altLang="en-US" sz="44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생각해볼 것들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8F79B9A-0DC4-6BD6-C45C-A01F892F33BD}"/>
              </a:ext>
            </a:extLst>
          </p:cNvPr>
          <p:cNvSpPr/>
          <p:nvPr/>
        </p:nvSpPr>
        <p:spPr>
          <a:xfrm flipH="1">
            <a:off x="0" y="9259748"/>
            <a:ext cx="18285714" cy="81022"/>
          </a:xfrm>
          <a:prstGeom prst="rect">
            <a:avLst/>
          </a:prstGeom>
          <a:gradFill>
            <a:gsLst>
              <a:gs pos="0">
                <a:srgbClr val="9AD7E6"/>
              </a:gs>
              <a:gs pos="50000">
                <a:srgbClr val="18A0C4"/>
              </a:gs>
              <a:gs pos="100000">
                <a:srgbClr val="0F6E8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9C10B2-CD64-54F5-93F5-EAD0A53B2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7790" y="9446022"/>
            <a:ext cx="1130300" cy="647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5E22E6-5C8A-1BEB-3FF1-AA6F66DFA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1686" y="9439754"/>
            <a:ext cx="612191" cy="734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E77120-D09D-FB8D-03CC-612106EC09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54" y="9500911"/>
            <a:ext cx="1964410" cy="612313"/>
          </a:xfrm>
          <a:prstGeom prst="rect">
            <a:avLst/>
          </a:prstGeom>
        </p:spPr>
      </p:pic>
      <p:sp>
        <p:nvSpPr>
          <p:cNvPr id="900" name="PageNum">
            <a:extLst>
              <a:ext uri="{FF2B5EF4-FFF2-40B4-BE49-F238E27FC236}">
                <a16:creationId xmlns:a16="http://schemas.microsoft.com/office/drawing/2014/main" id="{B4DA43F0-B2FE-1472-B23B-57A145FFFB76}"/>
              </a:ext>
            </a:extLst>
          </p:cNvPr>
          <p:cNvSpPr txBox="1"/>
          <p:nvPr/>
        </p:nvSpPr>
        <p:spPr>
          <a:xfrm>
            <a:off x="15621000" y="355600"/>
            <a:ext cx="2032000" cy="558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en-US" sz="2400" dirty="0">
                <a:solidFill>
                  <a:srgbClr val="D6EEF5"/>
                </a:solidFill>
                <a:latin typeface="RIDIBatang"/>
                <a:ea typeface="RIDIBatang"/>
                <a:cs typeface="RIDIBatang"/>
              </a:rPr>
              <a:t>05.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33A475-0988-3BEA-BD75-7246D6D0DD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854" y="2394857"/>
            <a:ext cx="8950574" cy="57407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727CCF-779A-A5E6-39A2-DAEB5F5D7D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3515" y="1491109"/>
            <a:ext cx="7772400" cy="35789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0837780-2828-5E8C-6080-52CB7B11FA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80600" y="5183504"/>
            <a:ext cx="7772400" cy="402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73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2ADE8-2214-4943-9558-213C89718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 Band">
            <a:extLst>
              <a:ext uri="{FF2B5EF4-FFF2-40B4-BE49-F238E27FC236}">
                <a16:creationId xmlns:a16="http://schemas.microsoft.com/office/drawing/2014/main" id="{933260A4-18A0-3D40-EBA7-DD8B3E08588D}"/>
              </a:ext>
            </a:extLst>
          </p:cNvPr>
          <p:cNvSpPr/>
          <p:nvPr/>
        </p:nvSpPr>
        <p:spPr>
          <a:xfrm>
            <a:off x="0" y="0"/>
            <a:ext cx="18288000" cy="1270000"/>
          </a:xfrm>
          <a:prstGeom prst="rect">
            <a:avLst/>
          </a:prstGeom>
          <a:gradFill>
            <a:gsLst>
              <a:gs pos="0">
                <a:srgbClr val="0C5A73"/>
              </a:gs>
              <a:gs pos="60000">
                <a:srgbClr val="0F6E8C"/>
              </a:gs>
              <a:gs pos="100000">
                <a:srgbClr val="18A0C4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9441100-2429-0EE6-3900-69C8FADFEE80}"/>
              </a:ext>
            </a:extLst>
          </p:cNvPr>
          <p:cNvSpPr txBox="1"/>
          <p:nvPr/>
        </p:nvSpPr>
        <p:spPr>
          <a:xfrm>
            <a:off x="609600" y="275578"/>
            <a:ext cx="1600200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6. Results &amp; </a:t>
            </a:r>
            <a:r>
              <a:rPr lang="ko-KR" altLang="en-US" sz="44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생각해볼 것들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284502-F01D-22C2-4BC5-A08D3FE1364C}"/>
              </a:ext>
            </a:extLst>
          </p:cNvPr>
          <p:cNvSpPr/>
          <p:nvPr/>
        </p:nvSpPr>
        <p:spPr>
          <a:xfrm flipH="1">
            <a:off x="0" y="9259748"/>
            <a:ext cx="18285714" cy="81022"/>
          </a:xfrm>
          <a:prstGeom prst="rect">
            <a:avLst/>
          </a:prstGeom>
          <a:gradFill>
            <a:gsLst>
              <a:gs pos="0">
                <a:srgbClr val="9AD7E6"/>
              </a:gs>
              <a:gs pos="50000">
                <a:srgbClr val="18A0C4"/>
              </a:gs>
              <a:gs pos="100000">
                <a:srgbClr val="0F6E8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3D7EFA-346E-E7FD-38F6-045C326912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7790" y="9446022"/>
            <a:ext cx="1130300" cy="647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6DFE7C-CF5F-6C27-9278-A28539BF23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1686" y="9439754"/>
            <a:ext cx="612191" cy="734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0EE019-AB15-D06D-15B2-3C36EECF7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54" y="9500911"/>
            <a:ext cx="1964410" cy="612313"/>
          </a:xfrm>
          <a:prstGeom prst="rect">
            <a:avLst/>
          </a:prstGeom>
        </p:spPr>
      </p:pic>
      <p:sp>
        <p:nvSpPr>
          <p:cNvPr id="900" name="PageNum">
            <a:extLst>
              <a:ext uri="{FF2B5EF4-FFF2-40B4-BE49-F238E27FC236}">
                <a16:creationId xmlns:a16="http://schemas.microsoft.com/office/drawing/2014/main" id="{0B479BFB-5666-994C-0AA0-7619221629AE}"/>
              </a:ext>
            </a:extLst>
          </p:cNvPr>
          <p:cNvSpPr txBox="1"/>
          <p:nvPr/>
        </p:nvSpPr>
        <p:spPr>
          <a:xfrm>
            <a:off x="15621000" y="355600"/>
            <a:ext cx="2032000" cy="558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en-US" sz="2400" dirty="0">
                <a:solidFill>
                  <a:srgbClr val="D6EEF5"/>
                </a:solidFill>
                <a:latin typeface="RIDIBatang"/>
                <a:ea typeface="RIDIBatang"/>
                <a:cs typeface="RIDIBatang"/>
              </a:rPr>
              <a:t>05.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405E6D-8BAA-2691-B7DC-B004AFF589DA}"/>
              </a:ext>
            </a:extLst>
          </p:cNvPr>
          <p:cNvSpPr txBox="1"/>
          <p:nvPr/>
        </p:nvSpPr>
        <p:spPr>
          <a:xfrm>
            <a:off x="10283873" y="4188119"/>
            <a:ext cx="3772710" cy="2306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sz="2000" b="1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Vison Encoder </a:t>
            </a:r>
            <a:r>
              <a:rPr lang="ko-KR" altLang="en-US" sz="2000" b="1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최적화</a:t>
            </a:r>
            <a:endParaRPr lang="en-US" altLang="ko-KR" sz="2000" b="1" dirty="0">
              <a:solidFill>
                <a:srgbClr val="3E4E55"/>
              </a:solidFill>
              <a:latin typeface="RIDIBatang"/>
              <a:ea typeface="RIDIBatang"/>
              <a:cs typeface="RIDIBatang"/>
            </a:endParaRP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Decoder </a:t>
            </a:r>
            <a:r>
              <a:rPr lang="ko-KR" altLang="en-US" sz="2000" b="1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최적화</a:t>
            </a:r>
            <a:endParaRPr lang="en-US" altLang="ko-KR" sz="2000" b="1" dirty="0">
              <a:solidFill>
                <a:srgbClr val="3E4E55"/>
              </a:solidFill>
              <a:latin typeface="RIDIBatang"/>
              <a:ea typeface="RIDIBatang"/>
              <a:cs typeface="RIDIBatang"/>
            </a:endParaRP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대규모 </a:t>
            </a:r>
            <a:r>
              <a:rPr lang="en-US" altLang="ko-KR" sz="2000" b="1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CoC</a:t>
            </a:r>
            <a:r>
              <a:rPr lang="ko-KR" altLang="en-US" sz="2000" b="1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가 필요할까</a:t>
            </a:r>
            <a:r>
              <a:rPr lang="en-US" altLang="ko-KR" sz="2000" b="1" dirty="0">
                <a:solidFill>
                  <a:srgbClr val="3E4E55"/>
                </a:solidFill>
                <a:latin typeface="RIDIBatang"/>
                <a:ea typeface="RIDIBatang"/>
                <a:cs typeface="RIDIBatang"/>
              </a:rPr>
              <a:t>?</a:t>
            </a:r>
          </a:p>
          <a:p>
            <a:pPr algn="l">
              <a:lnSpc>
                <a:spcPct val="150000"/>
              </a:lnSpc>
            </a:pPr>
            <a:endParaRPr lang="en-US" altLang="ko-KR" sz="2000" b="1" dirty="0">
              <a:solidFill>
                <a:srgbClr val="3E4E55"/>
              </a:solidFill>
              <a:latin typeface="RIDIBatang"/>
              <a:ea typeface="RIDIBatang"/>
              <a:cs typeface="RIDIBatang"/>
            </a:endParaRPr>
          </a:p>
          <a:p>
            <a:pPr algn="l">
              <a:lnSpc>
                <a:spcPct val="150000"/>
              </a:lnSpc>
            </a:pPr>
            <a:endParaRPr lang="en-US" altLang="ko-KR" dirty="0">
              <a:solidFill>
                <a:srgbClr val="3E4E55"/>
              </a:solidFill>
              <a:latin typeface="RIDIBatang"/>
              <a:ea typeface="RIDIBatang"/>
              <a:cs typeface="RIDIBatang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A250D7-74DB-CBBF-E2B0-5CD5393D40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4218" y="2192069"/>
            <a:ext cx="7025052" cy="554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075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8F0DE-9209-DB26-4524-CD58D5CFB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CB0010-FA70-83EE-06B1-C6D6E1AF7549}"/>
              </a:ext>
            </a:extLst>
          </p:cNvPr>
          <p:cNvSpPr/>
          <p:nvPr/>
        </p:nvSpPr>
        <p:spPr>
          <a:xfrm flipH="1">
            <a:off x="0" y="9259748"/>
            <a:ext cx="18285714" cy="81022"/>
          </a:xfrm>
          <a:prstGeom prst="rect">
            <a:avLst/>
          </a:prstGeom>
          <a:gradFill>
            <a:gsLst>
              <a:gs pos="0">
                <a:srgbClr val="9AD7E6"/>
              </a:gs>
              <a:gs pos="50000">
                <a:srgbClr val="18A0C4"/>
              </a:gs>
              <a:gs pos="100000">
                <a:srgbClr val="0F6E8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387AC9-9974-D7F8-373E-27085D37D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7790" y="9446022"/>
            <a:ext cx="1130300" cy="647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88C51C-D933-217C-6267-123A453C0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1686" y="9439754"/>
            <a:ext cx="612191" cy="734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937912-E546-D56C-1C49-197447EDE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54" y="9500911"/>
            <a:ext cx="1964410" cy="612313"/>
          </a:xfrm>
          <a:prstGeom prst="rect">
            <a:avLst/>
          </a:prstGeom>
        </p:spPr>
      </p:pic>
      <p:sp>
        <p:nvSpPr>
          <p:cNvPr id="900" name="PageNum"/>
          <p:cNvSpPr txBox="1"/>
          <p:nvPr/>
        </p:nvSpPr>
        <p:spPr>
          <a:xfrm>
            <a:off x="15646400" y="1219200"/>
            <a:ext cx="2032000" cy="558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en-US" sz="2400" dirty="0">
                <a:solidFill>
                  <a:srgbClr val="0F6E8C"/>
                </a:solidFill>
                <a:latin typeface="RIDIBatang"/>
                <a:ea typeface="RIDIBatang"/>
                <a:cs typeface="RIDIBatang"/>
              </a:rPr>
              <a:t>12.</a:t>
            </a:r>
          </a:p>
        </p:txBody>
      </p:sp>
      <p:sp>
        <p:nvSpPr>
          <p:cNvPr id="500" name="TopRule"/>
          <p:cNvSpPr/>
          <p:nvPr/>
        </p:nvSpPr>
        <p:spPr>
          <a:xfrm>
            <a:off x="609600" y="812800"/>
            <a:ext cx="17068800" cy="31750"/>
          </a:xfrm>
          <a:prstGeom prst="rect">
            <a:avLst/>
          </a:prstGeom>
          <a:solidFill>
            <a:srgbClr val="0F6E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" name="ThanksText"/>
          <p:cNvSpPr txBox="1"/>
          <p:nvPr/>
        </p:nvSpPr>
        <p:spPr>
          <a:xfrm>
            <a:off x="1143000" y="3175000"/>
            <a:ext cx="15875000" cy="279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98000"/>
              </a:lnSpc>
            </a:pPr>
            <a:r>
              <a:rPr lang="en-US" sz="7200" b="1" dirty="0">
                <a:solidFill>
                  <a:srgbClr val="0F6E8C"/>
                </a:solidFill>
                <a:latin typeface="RIDIBatang"/>
                <a:ea typeface="RIDIBatang"/>
                <a:cs typeface="RIDIBatang"/>
              </a:rPr>
              <a:t>THANK YOU</a:t>
            </a:r>
          </a:p>
          <a:p>
            <a:pPr>
              <a:lnSpc>
                <a:spcPct val="98000"/>
              </a:lnSpc>
            </a:pPr>
            <a:r>
              <a:rPr lang="en-US" sz="7200" b="1" dirty="0">
                <a:gradFill>
                  <a:gsLst>
                    <a:gs pos="0">
                      <a:srgbClr val="0F6E8C"/>
                    </a:gs>
                    <a:gs pos="100000">
                      <a:srgbClr val="74BACD"/>
                    </a:gs>
                  </a:gsLst>
                  <a:lin ang="0" scaled="0"/>
                </a:gradFill>
                <a:latin typeface="RIDIBatang"/>
                <a:ea typeface="RIDIBatang"/>
                <a:cs typeface="RIDIBatang"/>
              </a:rPr>
              <a:t>FOR YOUR ATTENTION</a:t>
            </a:r>
          </a:p>
        </p:txBody>
      </p:sp>
      <p:sp>
        <p:nvSpPr>
          <p:cNvPr id="502" name="ContactRule"/>
          <p:cNvSpPr/>
          <p:nvPr/>
        </p:nvSpPr>
        <p:spPr>
          <a:xfrm>
            <a:off x="1143000" y="7112000"/>
            <a:ext cx="16002000" cy="12700"/>
          </a:xfrm>
          <a:prstGeom prst="rect">
            <a:avLst/>
          </a:prstGeom>
          <a:solidFill>
            <a:srgbClr val="9AD7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" name="CLab0"/>
          <p:cNvSpPr txBox="1"/>
          <p:nvPr/>
        </p:nvSpPr>
        <p:spPr>
          <a:xfrm>
            <a:off x="1143000" y="75184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600" b="1" spc="300" dirty="0">
                <a:solidFill>
                  <a:srgbClr val="0F6E8C"/>
                </a:solidFill>
                <a:latin typeface="RIDIBatang"/>
                <a:ea typeface="RIDIBatang"/>
                <a:cs typeface="RIDIBatang"/>
              </a:rPr>
              <a:t>EMAIL</a:t>
            </a:r>
          </a:p>
        </p:txBody>
      </p:sp>
      <p:sp>
        <p:nvSpPr>
          <p:cNvPr id="504" name="CVal0"/>
          <p:cNvSpPr txBox="1"/>
          <p:nvPr/>
        </p:nvSpPr>
        <p:spPr>
          <a:xfrm>
            <a:off x="1143000" y="7899400"/>
            <a:ext cx="50800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200" dirty="0" err="1">
                <a:solidFill>
                  <a:srgbClr val="1C2B31"/>
                </a:solidFill>
                <a:latin typeface="RIDIBatang"/>
                <a:ea typeface="RIDIBatang"/>
                <a:cs typeface="RIDIBatang"/>
              </a:rPr>
              <a:t>koreaygj@chungbuk.ac.kr</a:t>
            </a:r>
            <a:endParaRPr lang="en-US" sz="2200" dirty="0">
              <a:solidFill>
                <a:srgbClr val="1C2B31"/>
              </a:solidFill>
            </a:endParaRPr>
          </a:p>
        </p:txBody>
      </p:sp>
      <p:sp>
        <p:nvSpPr>
          <p:cNvPr id="505" name="CLab1"/>
          <p:cNvSpPr txBox="1"/>
          <p:nvPr/>
        </p:nvSpPr>
        <p:spPr>
          <a:xfrm>
            <a:off x="6604000" y="75184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600" b="1" spc="300" dirty="0">
                <a:solidFill>
                  <a:srgbClr val="0F6E8C"/>
                </a:solidFill>
                <a:latin typeface="RIDIBatang"/>
                <a:ea typeface="RIDIBatang"/>
                <a:cs typeface="RIDIBatang"/>
              </a:rPr>
              <a:t>PHONE</a:t>
            </a:r>
          </a:p>
        </p:txBody>
      </p:sp>
      <p:sp>
        <p:nvSpPr>
          <p:cNvPr id="506" name="CVal1"/>
          <p:cNvSpPr txBox="1"/>
          <p:nvPr/>
        </p:nvSpPr>
        <p:spPr>
          <a:xfrm>
            <a:off x="6618748" y="7899400"/>
            <a:ext cx="50800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200" dirty="0">
                <a:solidFill>
                  <a:srgbClr val="1C2B31"/>
                </a:solidFill>
                <a:latin typeface="RIDIBatang"/>
                <a:ea typeface="RIDIBatang"/>
                <a:cs typeface="RIDIBatang"/>
              </a:rPr>
              <a:t>010-6705-1828</a:t>
            </a:r>
          </a:p>
        </p:txBody>
      </p:sp>
      <p:sp>
        <p:nvSpPr>
          <p:cNvPr id="507" name="CLab2"/>
          <p:cNvSpPr txBox="1"/>
          <p:nvPr/>
        </p:nvSpPr>
        <p:spPr>
          <a:xfrm>
            <a:off x="12065000" y="75184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600" b="1" spc="300" dirty="0">
                <a:solidFill>
                  <a:srgbClr val="0F6E8C"/>
                </a:solidFill>
                <a:latin typeface="RIDIBatang"/>
                <a:ea typeface="RIDIBatang"/>
                <a:cs typeface="RIDIBatang"/>
              </a:rPr>
              <a:t>WEBSITE</a:t>
            </a:r>
          </a:p>
        </p:txBody>
      </p:sp>
      <p:sp>
        <p:nvSpPr>
          <p:cNvPr id="508" name="CVal2"/>
          <p:cNvSpPr txBox="1"/>
          <p:nvPr/>
        </p:nvSpPr>
        <p:spPr>
          <a:xfrm>
            <a:off x="12065000" y="7899400"/>
            <a:ext cx="50800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200" dirty="0">
                <a:solidFill>
                  <a:srgbClr val="1C2B31"/>
                </a:solidFill>
                <a:latin typeface="RIDIBatang"/>
                <a:ea typeface="RIDIBatang"/>
                <a:cs typeface="RIDIBatang"/>
              </a:rPr>
              <a:t>https://</a:t>
            </a:r>
            <a:r>
              <a:rPr lang="en-US" sz="2200" dirty="0" err="1">
                <a:solidFill>
                  <a:srgbClr val="1C2B31"/>
                </a:solidFill>
                <a:latin typeface="RIDIBatang"/>
                <a:ea typeface="RIDIBatang"/>
                <a:cs typeface="RIDIBatang"/>
              </a:rPr>
              <a:t>www.avl-scrc.com</a:t>
            </a:r>
            <a:endParaRPr lang="en-US" sz="2200" dirty="0">
              <a:solidFill>
                <a:srgbClr val="1C2B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46710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 [1782986968811]">
  <a:themeElements>
    <a:clrScheme name="Office">
      <a:dk1>
        <a:srgbClr val="1C2B31"/>
      </a:dk1>
      <a:lt1>
        <a:srgbClr val="FFFFFF"/>
      </a:lt1>
      <a:dk2>
        <a:srgbClr val="0F6E8C"/>
      </a:dk2>
      <a:lt2>
        <a:srgbClr val="E4F4F9"/>
      </a:lt2>
      <a:accent1>
        <a:srgbClr val="18A0C4"/>
      </a:accent1>
      <a:accent2>
        <a:srgbClr val="0F7A9C"/>
      </a:accent2>
      <a:accent3>
        <a:srgbClr val="55BFD9"/>
      </a:accent3>
      <a:accent4>
        <a:srgbClr val="1D5A74"/>
      </a:accent4>
      <a:accent5>
        <a:srgbClr val="9AD7E6"/>
      </a:accent5>
      <a:accent6>
        <a:srgbClr val="E8A33D"/>
      </a:accent6>
      <a:hlink>
        <a:srgbClr val="0F7A9C"/>
      </a:hlink>
      <a:folHlink>
        <a:srgbClr val="55BFD9"/>
      </a:folHlink>
    </a:clrScheme>
    <a:fontScheme name="Office">
      <a:majorFont>
        <a:latin typeface="RIDIBatang"/>
        <a:ea typeface="RIDIBatang"/>
        <a:cs typeface=""/>
        <a:font script="Jpan" typeface="MS P????"/>
        <a:font script="Hang" typeface="RIDIBatang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RIDIBatang"/>
        <a:ea typeface="RIDIBatang"/>
        <a:cs typeface=""/>
        <a:font script="Jpan" typeface="MS P????"/>
        <a:font script="Hang" typeface="RIDIBatang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62D042C-049E-AB40-B6E4-DE0FFF2DFA7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7b03662-da17-4b84-8e4f-60a0c8ce385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22929</TotalTime>
  <Words>336</Words>
  <Application>Microsoft Macintosh PowerPoint</Application>
  <PresentationFormat>Custom</PresentationFormat>
  <Paragraphs>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RIDIBatang</vt:lpstr>
      <vt:lpstr>맑은 고딕</vt:lpstr>
      <vt:lpstr>Arial</vt:lpstr>
      <vt:lpstr>Office Theme [1782986968811]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officegen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양경진</cp:lastModifiedBy>
  <cp:revision>3311</cp:revision>
  <dcterms:created xsi:type="dcterms:W3CDTF">2024-04-28T15:09:03Z</dcterms:created>
  <dcterms:modified xsi:type="dcterms:W3CDTF">2026-09-21T15:20:46Z</dcterms:modified>
  <cp:version/>
</cp:coreProperties>
</file>